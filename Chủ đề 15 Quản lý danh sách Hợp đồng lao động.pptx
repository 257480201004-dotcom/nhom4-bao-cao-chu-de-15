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nva Sans" panose="020B0604020202020204" charset="0"/>
      <p:regular r:id="rId18"/>
    </p:embeddedFont>
    <p:embeddedFont>
      <p:font typeface="Paytone One" panose="020B0604020202020204" charset="0"/>
      <p:regular r:id="rId19"/>
    </p:embeddedFont>
    <p:embeddedFont>
      <p:font typeface="Segoe UI Black" panose="020B0A02040204020203" pitchFamily="34" charset="0"/>
      <p:bold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9551" y="2463779"/>
            <a:ext cx="19645133" cy="5976183"/>
            <a:chOff x="0" y="0"/>
            <a:chExt cx="26193510" cy="7968244"/>
          </a:xfrm>
        </p:grpSpPr>
        <p:grpSp>
          <p:nvGrpSpPr>
            <p:cNvPr id="3" name="Group 3"/>
            <p:cNvGrpSpPr/>
            <p:nvPr/>
          </p:nvGrpSpPr>
          <p:grpSpPr>
            <a:xfrm>
              <a:off x="1197670" y="0"/>
              <a:ext cx="23427462" cy="7968244"/>
              <a:chOff x="0" y="0"/>
              <a:chExt cx="4627647" cy="1573974"/>
            </a:xfrm>
          </p:grpSpPr>
          <p:sp>
            <p:nvSpPr>
              <p:cNvPr id="4" name="Freeform 4"/>
              <p:cNvSpPr/>
              <p:nvPr/>
            </p:nvSpPr>
            <p:spPr>
              <a:xfrm>
                <a:off x="0" y="0"/>
                <a:ext cx="4627647" cy="1573974"/>
              </a:xfrm>
              <a:custGeom>
                <a:avLst/>
                <a:gdLst/>
                <a:ahLst/>
                <a:cxnLst/>
                <a:rect l="l" t="t" r="r" b="b"/>
                <a:pathLst>
                  <a:path w="4627647" h="1573974">
                    <a:moveTo>
                      <a:pt x="32165" y="0"/>
                    </a:moveTo>
                    <a:lnTo>
                      <a:pt x="4595482" y="0"/>
                    </a:lnTo>
                    <a:cubicBezTo>
                      <a:pt x="4613246" y="0"/>
                      <a:pt x="4627647" y="14401"/>
                      <a:pt x="4627647" y="32165"/>
                    </a:cubicBezTo>
                    <a:lnTo>
                      <a:pt x="4627647" y="1541809"/>
                    </a:lnTo>
                    <a:cubicBezTo>
                      <a:pt x="4627647" y="1550340"/>
                      <a:pt x="4624258" y="1558521"/>
                      <a:pt x="4618226" y="1564553"/>
                    </a:cubicBezTo>
                    <a:cubicBezTo>
                      <a:pt x="4612194" y="1570585"/>
                      <a:pt x="4604013" y="1573974"/>
                      <a:pt x="4595482" y="1573974"/>
                    </a:cubicBezTo>
                    <a:lnTo>
                      <a:pt x="32165" y="1573974"/>
                    </a:lnTo>
                    <a:cubicBezTo>
                      <a:pt x="23634" y="1573974"/>
                      <a:pt x="15453" y="1570585"/>
                      <a:pt x="9421" y="1564553"/>
                    </a:cubicBezTo>
                    <a:cubicBezTo>
                      <a:pt x="3389" y="1558521"/>
                      <a:pt x="0" y="1550340"/>
                      <a:pt x="0" y="1541809"/>
                    </a:cubicBezTo>
                    <a:lnTo>
                      <a:pt x="0" y="32165"/>
                    </a:lnTo>
                    <a:cubicBezTo>
                      <a:pt x="0" y="23634"/>
                      <a:pt x="3389" y="15453"/>
                      <a:pt x="9421" y="9421"/>
                    </a:cubicBezTo>
                    <a:cubicBezTo>
                      <a:pt x="15453" y="3389"/>
                      <a:pt x="23634" y="0"/>
                      <a:pt x="32165" y="0"/>
                    </a:cubicBezTo>
                    <a:close/>
                  </a:path>
                </a:pathLst>
              </a:custGeom>
              <a:solidFill>
                <a:srgbClr val="FFDE59">
                  <a:alpha val="46667"/>
                </a:srgbClr>
              </a:solidFill>
            </p:spPr>
            <p:txBody>
              <a:bodyPr/>
              <a:lstStyle/>
              <a:p>
                <a:endParaRPr lang="en-US"/>
              </a:p>
            </p:txBody>
          </p:sp>
          <p:sp>
            <p:nvSpPr>
              <p:cNvPr id="5" name="TextBox 5"/>
              <p:cNvSpPr txBox="1"/>
              <p:nvPr/>
            </p:nvSpPr>
            <p:spPr>
              <a:xfrm>
                <a:off x="0" y="-38100"/>
                <a:ext cx="4627647" cy="1612074"/>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0" y="833249"/>
              <a:ext cx="26193510" cy="3150873"/>
            </a:xfrm>
            <a:prstGeom prst="rect">
              <a:avLst/>
            </a:prstGeom>
          </p:spPr>
          <p:txBody>
            <a:bodyPr lIns="0" tIns="0" rIns="0" bIns="0" rtlCol="0" anchor="t">
              <a:spAutoFit/>
            </a:bodyPr>
            <a:lstStyle/>
            <a:p>
              <a:pPr algn="ctr">
                <a:lnSpc>
                  <a:spcPts val="10499"/>
                </a:lnSpc>
              </a:pPr>
              <a:r>
                <a:rPr lang="en-US" sz="7499">
                  <a:solidFill>
                    <a:srgbClr val="000000"/>
                  </a:solidFill>
                  <a:latin typeface="Paytone One"/>
                  <a:ea typeface="Paytone One"/>
                  <a:cs typeface="Paytone One"/>
                  <a:sym typeface="Paytone One"/>
                </a:rPr>
                <a:t>Chủ đề 15</a:t>
              </a:r>
            </a:p>
            <a:p>
              <a:pPr algn="ctr">
                <a:lnSpc>
                  <a:spcPts val="8819"/>
                </a:lnSpc>
                <a:spcBef>
                  <a:spcPct val="0"/>
                </a:spcBef>
              </a:pPr>
              <a:r>
                <a:rPr lang="en-US" sz="6299">
                  <a:solidFill>
                    <a:srgbClr val="000000"/>
                  </a:solidFill>
                  <a:latin typeface="Paytone One"/>
                  <a:ea typeface="Paytone One"/>
                  <a:cs typeface="Paytone One"/>
                  <a:sym typeface="Paytone One"/>
                </a:rPr>
                <a:t>QUẢN LÝ DANH SÁCH HỢP ĐỒNG LAO ĐỘNG  </a:t>
              </a:r>
            </a:p>
          </p:txBody>
        </p:sp>
      </p:grpSp>
      <p:sp>
        <p:nvSpPr>
          <p:cNvPr id="7" name="AutoShape 7"/>
          <p:cNvSpPr/>
          <p:nvPr/>
        </p:nvSpPr>
        <p:spPr>
          <a:xfrm>
            <a:off x="6325619" y="5785109"/>
            <a:ext cx="6492240" cy="0"/>
          </a:xfrm>
          <a:prstGeom prst="line">
            <a:avLst/>
          </a:prstGeom>
          <a:ln w="38100" cap="flat">
            <a:solidFill>
              <a:srgbClr val="000000"/>
            </a:solidFill>
            <a:prstDash val="solid"/>
            <a:headEnd type="none" w="sm" len="sm"/>
            <a:tailEnd type="none" w="sm" len="sm"/>
          </a:ln>
        </p:spPr>
        <p:txBody>
          <a:bodyPr/>
          <a:lstStyle/>
          <a:p>
            <a:endParaRPr lang="en-US"/>
          </a:p>
        </p:txBody>
      </p:sp>
      <p:sp>
        <p:nvSpPr>
          <p:cNvPr id="8" name="TextBox 8"/>
          <p:cNvSpPr txBox="1"/>
          <p:nvPr/>
        </p:nvSpPr>
        <p:spPr>
          <a:xfrm>
            <a:off x="4935466" y="5925116"/>
            <a:ext cx="9443642" cy="873126"/>
          </a:xfrm>
          <a:prstGeom prst="rect">
            <a:avLst/>
          </a:prstGeom>
        </p:spPr>
        <p:txBody>
          <a:bodyPr lIns="0" tIns="0" rIns="0" bIns="0" rtlCol="0" anchor="t">
            <a:spAutoFit/>
          </a:bodyPr>
          <a:lstStyle/>
          <a:p>
            <a:pPr algn="ctr">
              <a:lnSpc>
                <a:spcPts val="6999"/>
              </a:lnSpc>
              <a:spcBef>
                <a:spcPct val="0"/>
              </a:spcBef>
            </a:pPr>
            <a:r>
              <a:rPr lang="en-US" sz="4999">
                <a:solidFill>
                  <a:srgbClr val="000000"/>
                </a:solidFill>
                <a:latin typeface="Arial"/>
                <a:ea typeface="Arial"/>
                <a:cs typeface="Arial"/>
                <a:sym typeface="Arial"/>
              </a:rPr>
              <a:t>Thực hiện bởi: Nhóm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86221" y="582618"/>
            <a:ext cx="10817305" cy="1160782"/>
          </a:xfrm>
          <a:prstGeom prst="rect">
            <a:avLst/>
          </a:prstGeom>
        </p:spPr>
        <p:txBody>
          <a:bodyPr lIns="0" tIns="0" rIns="0" bIns="0" rtlCol="0" anchor="t">
            <a:spAutoFit/>
          </a:bodyPr>
          <a:lstStyle/>
          <a:p>
            <a:pPr algn="ctr">
              <a:lnSpc>
                <a:spcPts val="9519"/>
              </a:lnSpc>
              <a:spcBef>
                <a:spcPct val="0"/>
              </a:spcBef>
            </a:pPr>
            <a:r>
              <a:rPr lang="en-US" sz="6799">
                <a:solidFill>
                  <a:srgbClr val="000000"/>
                </a:solidFill>
                <a:latin typeface="Paytone One"/>
                <a:ea typeface="Paytone One"/>
                <a:cs typeface="Paytone One"/>
                <a:sym typeface="Paytone One"/>
              </a:rPr>
              <a:t>DANH SÁCH THÀNH VIÊN </a:t>
            </a:r>
          </a:p>
        </p:txBody>
      </p:sp>
      <p:pic>
        <p:nvPicPr>
          <p:cNvPr id="4" name="Hình ảnh 3">
            <a:extLst>
              <a:ext uri="{FF2B5EF4-FFF2-40B4-BE49-F238E27FC236}">
                <a16:creationId xmlns:a16="http://schemas.microsoft.com/office/drawing/2014/main" id="{5E180420-AD97-651A-9376-000FC443F9B6}"/>
              </a:ext>
            </a:extLst>
          </p:cNvPr>
          <p:cNvPicPr>
            <a:picLocks noChangeAspect="1"/>
          </p:cNvPicPr>
          <p:nvPr/>
        </p:nvPicPr>
        <p:blipFill>
          <a:blip r:embed="rId2"/>
          <a:stretch>
            <a:fillRect/>
          </a:stretch>
        </p:blipFill>
        <p:spPr>
          <a:xfrm>
            <a:off x="1316946" y="2400300"/>
            <a:ext cx="16971054" cy="65857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850515"/>
            <a:ext cx="16726751" cy="4500245"/>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Arial"/>
                <a:ea typeface="Arial"/>
                <a:cs typeface="Arial"/>
                <a:sym typeface="Arial"/>
              </a:rPr>
              <a:t>Xây dựng lớp quản lý đối tượng Hợp đồng lao động với các thuộc tính: mã hợp đồng, họ tên nhân viên, loại hợp đồng, ngày ký, ngày hết hạn, mức lương cơ bản, phụ cấp và các phương thức cần thiết. Sau đó thực hiện quản lý danh sách n (0 &lt; n &lt; 200) hợp đồng với các thao tác:</a:t>
            </a:r>
          </a:p>
          <a:p>
            <a:pPr marL="690881" lvl="1" indent="-345440" algn="l">
              <a:lnSpc>
                <a:spcPts val="4480"/>
              </a:lnSpc>
              <a:spcBef>
                <a:spcPct val="0"/>
              </a:spcBef>
              <a:buFont typeface="Arial"/>
              <a:buChar char="•"/>
            </a:pPr>
            <a:r>
              <a:rPr lang="en-US" sz="3200">
                <a:solidFill>
                  <a:srgbClr val="000000"/>
                </a:solidFill>
                <a:latin typeface="Arial"/>
                <a:ea typeface="Arial"/>
                <a:cs typeface="Arial"/>
                <a:sym typeface="Arial"/>
              </a:rPr>
              <a:t>Nhập danh sách hợp đồng từ bàn phím, in danh sách ra màn hình</a:t>
            </a:r>
          </a:p>
          <a:p>
            <a:pPr marL="690881" lvl="1" indent="-345440" algn="l">
              <a:lnSpc>
                <a:spcPts val="4480"/>
              </a:lnSpc>
              <a:spcBef>
                <a:spcPct val="0"/>
              </a:spcBef>
              <a:buFont typeface="Arial"/>
              <a:buChar char="•"/>
            </a:pPr>
            <a:r>
              <a:rPr lang="en-US" sz="3200">
                <a:solidFill>
                  <a:srgbClr val="000000"/>
                </a:solidFill>
                <a:latin typeface="Arial"/>
                <a:ea typeface="Arial"/>
                <a:cs typeface="Arial"/>
                <a:sym typeface="Arial"/>
              </a:rPr>
              <a:t>Sắp xếp danh sách theo thứ tự ngày hết hạn tăng dần</a:t>
            </a:r>
          </a:p>
          <a:p>
            <a:pPr marL="690881" lvl="1" indent="-345440" algn="l">
              <a:lnSpc>
                <a:spcPts val="4480"/>
              </a:lnSpc>
              <a:spcBef>
                <a:spcPct val="0"/>
              </a:spcBef>
              <a:buFont typeface="Arial"/>
              <a:buChar char="•"/>
            </a:pPr>
            <a:r>
              <a:rPr lang="en-US" sz="3200">
                <a:solidFill>
                  <a:srgbClr val="000000"/>
                </a:solidFill>
                <a:latin typeface="Arial"/>
                <a:ea typeface="Arial"/>
                <a:cs typeface="Arial"/>
                <a:sym typeface="Arial"/>
              </a:rPr>
              <a:t>Tìm kiếm hợp đồng theo mã hợp đồng</a:t>
            </a:r>
          </a:p>
          <a:p>
            <a:pPr marL="690881" lvl="1" indent="-345440" algn="l">
              <a:lnSpc>
                <a:spcPts val="4480"/>
              </a:lnSpc>
              <a:spcBef>
                <a:spcPct val="0"/>
              </a:spcBef>
              <a:buFont typeface="Arial"/>
              <a:buChar char="•"/>
            </a:pPr>
            <a:r>
              <a:rPr lang="en-US" sz="3200">
                <a:solidFill>
                  <a:srgbClr val="000000"/>
                </a:solidFill>
                <a:latin typeface="Arial"/>
                <a:ea typeface="Arial"/>
                <a:cs typeface="Arial"/>
                <a:sym typeface="Arial"/>
              </a:rPr>
              <a:t>Bổ sung hoặc xóa 1 hợp đồng ở một vị trí cho trước trong danh sách.</a:t>
            </a:r>
          </a:p>
        </p:txBody>
      </p:sp>
      <p:sp>
        <p:nvSpPr>
          <p:cNvPr id="3" name="TextBox 3"/>
          <p:cNvSpPr txBox="1"/>
          <p:nvPr/>
        </p:nvSpPr>
        <p:spPr>
          <a:xfrm>
            <a:off x="-5323230" y="664046"/>
            <a:ext cx="16726751" cy="1625615"/>
          </a:xfrm>
          <a:prstGeom prst="rect">
            <a:avLst/>
          </a:prstGeom>
        </p:spPr>
        <p:txBody>
          <a:bodyPr lIns="0" tIns="0" rIns="0" bIns="0" rtlCol="0" anchor="t">
            <a:spAutoFit/>
          </a:bodyPr>
          <a:lstStyle/>
          <a:p>
            <a:pPr algn="ctr">
              <a:lnSpc>
                <a:spcPts val="13299"/>
              </a:lnSpc>
              <a:spcBef>
                <a:spcPct val="0"/>
              </a:spcBef>
            </a:pPr>
            <a:r>
              <a:rPr lang="en-US" sz="9499">
                <a:solidFill>
                  <a:srgbClr val="000000"/>
                </a:solidFill>
                <a:latin typeface="Paytone One"/>
                <a:ea typeface="Paytone One"/>
                <a:cs typeface="Paytone One"/>
                <a:sym typeface="Paytone One"/>
              </a:rPr>
              <a:t>ĐỀ BÀI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387" y="141569"/>
            <a:ext cx="13461935" cy="10131236"/>
          </a:xfrm>
          <a:custGeom>
            <a:avLst/>
            <a:gdLst/>
            <a:ahLst/>
            <a:cxnLst/>
            <a:rect l="l" t="t" r="r" b="b"/>
            <a:pathLst>
              <a:path w="13461935" h="10131236">
                <a:moveTo>
                  <a:pt x="0" y="0"/>
                </a:moveTo>
                <a:lnTo>
                  <a:pt x="13461935" y="0"/>
                </a:lnTo>
                <a:lnTo>
                  <a:pt x="13461935" y="10131236"/>
                </a:lnTo>
                <a:lnTo>
                  <a:pt x="0" y="10131236"/>
                </a:lnTo>
                <a:lnTo>
                  <a:pt x="0" y="0"/>
                </a:lnTo>
                <a:close/>
              </a:path>
            </a:pathLst>
          </a:custGeom>
          <a:blipFill>
            <a:blip r:embed="rId2"/>
            <a:stretch>
              <a:fillRect l="-1197" r="-40723"/>
            </a:stretch>
          </a:blipFill>
        </p:spPr>
        <p:txBody>
          <a:bodyPr/>
          <a:lstStyle/>
          <a:p>
            <a:endParaRPr lang="en-US"/>
          </a:p>
        </p:txBody>
      </p:sp>
      <p:grpSp>
        <p:nvGrpSpPr>
          <p:cNvPr id="19" name="Nhóm 18">
            <a:extLst>
              <a:ext uri="{FF2B5EF4-FFF2-40B4-BE49-F238E27FC236}">
                <a16:creationId xmlns:a16="http://schemas.microsoft.com/office/drawing/2014/main" id="{45458EB0-80C2-35EE-8332-3E85B8DF203B}"/>
              </a:ext>
            </a:extLst>
          </p:cNvPr>
          <p:cNvGrpSpPr/>
          <p:nvPr/>
        </p:nvGrpSpPr>
        <p:grpSpPr>
          <a:xfrm>
            <a:off x="5679769" y="312336"/>
            <a:ext cx="8055697" cy="1204765"/>
            <a:chOff x="5679769" y="312336"/>
            <a:chExt cx="8055697" cy="1204765"/>
          </a:xfrm>
        </p:grpSpPr>
        <p:sp>
          <p:nvSpPr>
            <p:cNvPr id="3" name="Freeform 3"/>
            <p:cNvSpPr/>
            <p:nvPr/>
          </p:nvSpPr>
          <p:spPr>
            <a:xfrm flipH="1">
              <a:off x="5679769" y="312336"/>
              <a:ext cx="283120" cy="1204765"/>
            </a:xfrm>
            <a:custGeom>
              <a:avLst/>
              <a:gdLst/>
              <a:ahLst/>
              <a:cxnLst/>
              <a:rect l="l" t="t" r="r" b="b"/>
              <a:pathLst>
                <a:path w="283120" h="1204765">
                  <a:moveTo>
                    <a:pt x="283120" y="0"/>
                  </a:moveTo>
                  <a:lnTo>
                    <a:pt x="0" y="0"/>
                  </a:lnTo>
                  <a:lnTo>
                    <a:pt x="0" y="1204765"/>
                  </a:lnTo>
                  <a:lnTo>
                    <a:pt x="283120" y="1204765"/>
                  </a:lnTo>
                  <a:lnTo>
                    <a:pt x="28312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14638" y="702628"/>
              <a:ext cx="6620828" cy="566420"/>
            </a:xfrm>
            <a:prstGeom prst="rect">
              <a:avLst/>
            </a:prstGeom>
          </p:spPr>
          <p:txBody>
            <a:bodyPr lIns="0" tIns="0" rIns="0" bIns="0" rtlCol="0" anchor="t">
              <a:spAutoFit/>
            </a:bodyPr>
            <a:lstStyle/>
            <a:p>
              <a:pPr algn="ctr">
                <a:lnSpc>
                  <a:spcPts val="4480"/>
                </a:lnSpc>
                <a:spcBef>
                  <a:spcPct val="0"/>
                </a:spcBef>
              </a:pPr>
              <a:r>
                <a:rPr lang="en-US" sz="3200" dirty="0">
                  <a:solidFill>
                    <a:srgbClr val="000000"/>
                  </a:solidFill>
                  <a:latin typeface="Arial"/>
                  <a:ea typeface="Arial"/>
                  <a:cs typeface="Arial"/>
                  <a:sym typeface="Arial"/>
                </a:rPr>
                <a:t>Khai </a:t>
              </a:r>
              <a:r>
                <a:rPr lang="en-US" sz="3200" dirty="0" err="1">
                  <a:solidFill>
                    <a:srgbClr val="000000"/>
                  </a:solidFill>
                  <a:latin typeface="Arial"/>
                  <a:ea typeface="Arial"/>
                  <a:cs typeface="Arial"/>
                  <a:sym typeface="Arial"/>
                </a:rPr>
                <a:t>báo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thư</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viện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và</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không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gian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tên</a:t>
              </a:r>
              <a:r>
                <a:rPr lang="en-US" sz="3200" dirty="0">
                  <a:solidFill>
                    <a:srgbClr val="000000"/>
                  </a:solidFill>
                  <a:latin typeface="Arial"/>
                  <a:ea typeface="Arial"/>
                  <a:cs typeface="Arial"/>
                  <a:sym typeface="Arial"/>
                </a:rPr>
                <a:t> </a:t>
              </a:r>
            </a:p>
          </p:txBody>
        </p:sp>
      </p:grpSp>
      <p:grpSp>
        <p:nvGrpSpPr>
          <p:cNvPr id="22" name="Nhóm 21">
            <a:extLst>
              <a:ext uri="{FF2B5EF4-FFF2-40B4-BE49-F238E27FC236}">
                <a16:creationId xmlns:a16="http://schemas.microsoft.com/office/drawing/2014/main" id="{8C1BCD9A-5594-635C-A438-91B760ABFCFB}"/>
              </a:ext>
            </a:extLst>
          </p:cNvPr>
          <p:cNvGrpSpPr/>
          <p:nvPr/>
        </p:nvGrpSpPr>
        <p:grpSpPr>
          <a:xfrm>
            <a:off x="7391400" y="2958601"/>
            <a:ext cx="10758902" cy="2690184"/>
            <a:chOff x="7391400" y="2958601"/>
            <a:chExt cx="10758902" cy="2690184"/>
          </a:xfrm>
        </p:grpSpPr>
        <p:sp>
          <p:nvSpPr>
            <p:cNvPr id="6" name="Freeform 6"/>
            <p:cNvSpPr/>
            <p:nvPr/>
          </p:nvSpPr>
          <p:spPr>
            <a:xfrm flipH="1">
              <a:off x="7391400" y="2958601"/>
              <a:ext cx="632193" cy="2690184"/>
            </a:xfrm>
            <a:custGeom>
              <a:avLst/>
              <a:gdLst/>
              <a:ahLst/>
              <a:cxnLst/>
              <a:rect l="l" t="t" r="r" b="b"/>
              <a:pathLst>
                <a:path w="632193" h="2690184">
                  <a:moveTo>
                    <a:pt x="632193" y="0"/>
                  </a:moveTo>
                  <a:lnTo>
                    <a:pt x="0" y="0"/>
                  </a:lnTo>
                  <a:lnTo>
                    <a:pt x="0" y="2690184"/>
                  </a:lnTo>
                  <a:lnTo>
                    <a:pt x="632193" y="2690184"/>
                  </a:lnTo>
                  <a:lnTo>
                    <a:pt x="63219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TextBox 8"/>
            <p:cNvSpPr txBox="1"/>
            <p:nvPr/>
          </p:nvSpPr>
          <p:spPr>
            <a:xfrm>
              <a:off x="8846321" y="4038690"/>
              <a:ext cx="9303981" cy="1128395"/>
            </a:xfrm>
            <a:prstGeom prst="rect">
              <a:avLst/>
            </a:prstGeom>
          </p:spPr>
          <p:txBody>
            <a:bodyPr lIns="0" tIns="0" rIns="0" bIns="0" rtlCol="0" anchor="t">
              <a:spAutoFit/>
            </a:bodyPr>
            <a:lstStyle/>
            <a:p>
              <a:pPr algn="l">
                <a:lnSpc>
                  <a:spcPts val="4480"/>
                </a:lnSpc>
                <a:spcBef>
                  <a:spcPct val="0"/>
                </a:spcBef>
              </a:pPr>
              <a:r>
                <a:rPr lang="en-US" sz="3200" dirty="0">
                  <a:solidFill>
                    <a:srgbClr val="000000"/>
                  </a:solidFill>
                  <a:latin typeface="Arial"/>
                  <a:ea typeface="Arial"/>
                  <a:cs typeface="Arial"/>
                  <a:sym typeface="Arial"/>
                </a:rPr>
                <a:t>Định </a:t>
              </a:r>
              <a:r>
                <a:rPr lang="en-US" sz="3200" dirty="0" err="1">
                  <a:solidFill>
                    <a:srgbClr val="000000"/>
                  </a:solidFill>
                  <a:latin typeface="Arial"/>
                  <a:ea typeface="Arial"/>
                  <a:cs typeface="Arial"/>
                  <a:sym typeface="Arial"/>
                </a:rPr>
                <a:t>nghĩa</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cấu</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trúc</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HopDong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lồng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bên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trong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lớp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chứa</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các</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thuộc</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tính</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cá</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nhân</a:t>
              </a:r>
              <a:endParaRPr lang="en-US" sz="3200" dirty="0">
                <a:solidFill>
                  <a:srgbClr val="000000"/>
                </a:solidFill>
                <a:latin typeface="Arial"/>
                <a:ea typeface="Arial"/>
                <a:cs typeface="Arial"/>
                <a:sym typeface="Arial"/>
              </a:endParaRPr>
            </a:p>
          </p:txBody>
        </p:sp>
      </p:grpSp>
      <p:grpSp>
        <p:nvGrpSpPr>
          <p:cNvPr id="23" name="Nhóm 22">
            <a:extLst>
              <a:ext uri="{FF2B5EF4-FFF2-40B4-BE49-F238E27FC236}">
                <a16:creationId xmlns:a16="http://schemas.microsoft.com/office/drawing/2014/main" id="{7EFDB568-44C0-1B17-944E-6673FA5AFA57}"/>
              </a:ext>
            </a:extLst>
          </p:cNvPr>
          <p:cNvGrpSpPr/>
          <p:nvPr/>
        </p:nvGrpSpPr>
        <p:grpSpPr>
          <a:xfrm>
            <a:off x="5273767" y="6241090"/>
            <a:ext cx="7873173" cy="807086"/>
            <a:chOff x="5273767" y="6241090"/>
            <a:chExt cx="7873173" cy="807086"/>
          </a:xfrm>
        </p:grpSpPr>
        <p:sp>
          <p:nvSpPr>
            <p:cNvPr id="9" name="TextBox 9"/>
            <p:cNvSpPr txBox="1"/>
            <p:nvPr/>
          </p:nvSpPr>
          <p:spPr>
            <a:xfrm>
              <a:off x="5273767" y="6241090"/>
              <a:ext cx="162401" cy="807086"/>
            </a:xfrm>
            <a:prstGeom prst="rect">
              <a:avLst/>
            </a:prstGeom>
          </p:spPr>
          <p:txBody>
            <a:bodyPr lIns="0" tIns="0" rIns="0" bIns="0" rtlCol="0" anchor="t">
              <a:spAutoFit/>
            </a:bodyPr>
            <a:lstStyle/>
            <a:p>
              <a:pPr algn="ctr">
                <a:lnSpc>
                  <a:spcPts val="6439"/>
                </a:lnSpc>
                <a:spcBef>
                  <a:spcPct val="0"/>
                </a:spcBef>
              </a:pPr>
              <a:r>
                <a:rPr lang="en-US" sz="4599" dirty="0">
                  <a:solidFill>
                    <a:srgbClr val="000000"/>
                  </a:solidFill>
                  <a:latin typeface="Arial"/>
                  <a:ea typeface="Arial"/>
                  <a:cs typeface="Arial"/>
                  <a:sym typeface="Arial"/>
                </a:rPr>
                <a:t>]</a:t>
              </a:r>
            </a:p>
          </p:txBody>
        </p:sp>
        <p:sp>
          <p:nvSpPr>
            <p:cNvPr id="10" name="TextBox 10"/>
            <p:cNvSpPr txBox="1"/>
            <p:nvPr/>
          </p:nvSpPr>
          <p:spPr>
            <a:xfrm>
              <a:off x="7114638" y="6367601"/>
              <a:ext cx="6032302" cy="566420"/>
            </a:xfrm>
            <a:prstGeom prst="rect">
              <a:avLst/>
            </a:prstGeom>
          </p:spPr>
          <p:txBody>
            <a:bodyPr lIns="0" tIns="0" rIns="0" bIns="0" rtlCol="0" anchor="t">
              <a:spAutoFit/>
            </a:bodyPr>
            <a:lstStyle/>
            <a:p>
              <a:pPr algn="ctr">
                <a:lnSpc>
                  <a:spcPts val="4480"/>
                </a:lnSpc>
                <a:spcBef>
                  <a:spcPct val="0"/>
                </a:spcBef>
              </a:pPr>
              <a:r>
                <a:rPr lang="en-US" sz="3200" dirty="0">
                  <a:solidFill>
                    <a:srgbClr val="000000"/>
                  </a:solidFill>
                  <a:latin typeface="Arial"/>
                  <a:ea typeface="Arial"/>
                  <a:cs typeface="Arial"/>
                  <a:sym typeface="Arial"/>
                </a:rPr>
                <a:t>Khai </a:t>
              </a:r>
              <a:r>
                <a:rPr lang="en-US" sz="3200" dirty="0" err="1">
                  <a:solidFill>
                    <a:srgbClr val="000000"/>
                  </a:solidFill>
                  <a:latin typeface="Arial"/>
                  <a:ea typeface="Arial"/>
                  <a:cs typeface="Arial"/>
                  <a:sym typeface="Arial"/>
                </a:rPr>
                <a:t>báo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mảng</a:t>
              </a:r>
              <a:r>
                <a:rPr lang="en-US" sz="3200" dirty="0">
                  <a:solidFill>
                    <a:srgbClr val="000000"/>
                  </a:solidFill>
                  <a:latin typeface="Arial"/>
                  <a:ea typeface="Arial"/>
                  <a:cs typeface="Arial"/>
                  <a:sym typeface="Arial"/>
                </a:rPr>
                <a:t> 1 </a:t>
              </a:r>
              <a:r>
                <a:rPr lang="en-US" sz="3200" dirty="0" err="1">
                  <a:solidFill>
                    <a:srgbClr val="000000"/>
                  </a:solidFill>
                  <a:latin typeface="Arial"/>
                  <a:ea typeface="Arial"/>
                  <a:cs typeface="Arial"/>
                  <a:sym typeface="Arial"/>
                </a:rPr>
                <a:t>chiều</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và</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biến</a:t>
              </a:r>
              <a:r>
                <a:rPr lang="en-US" sz="3200" dirty="0">
                  <a:solidFill>
                    <a:srgbClr val="000000"/>
                  </a:solidFill>
                  <a:latin typeface="Arial"/>
                  <a:ea typeface="Arial"/>
                  <a:cs typeface="Arial"/>
                  <a:sym typeface="Arial"/>
                </a:rPr>
                <a:t> n </a:t>
              </a:r>
            </a:p>
          </p:txBody>
        </p:sp>
      </p:grpSp>
      <p:grpSp>
        <p:nvGrpSpPr>
          <p:cNvPr id="24" name="Nhóm 23">
            <a:extLst>
              <a:ext uri="{FF2B5EF4-FFF2-40B4-BE49-F238E27FC236}">
                <a16:creationId xmlns:a16="http://schemas.microsoft.com/office/drawing/2014/main" id="{CBD8B891-4102-20E6-348C-CCC407AFA390}"/>
              </a:ext>
            </a:extLst>
          </p:cNvPr>
          <p:cNvGrpSpPr/>
          <p:nvPr/>
        </p:nvGrpSpPr>
        <p:grpSpPr>
          <a:xfrm>
            <a:off x="3344032" y="6890421"/>
            <a:ext cx="10547524" cy="566420"/>
            <a:chOff x="3344032" y="6890421"/>
            <a:chExt cx="10547524" cy="566420"/>
          </a:xfrm>
        </p:grpSpPr>
        <p:sp>
          <p:nvSpPr>
            <p:cNvPr id="11" name="TextBox 11"/>
            <p:cNvSpPr txBox="1"/>
            <p:nvPr/>
          </p:nvSpPr>
          <p:spPr>
            <a:xfrm>
              <a:off x="7114638" y="6890421"/>
              <a:ext cx="6776918" cy="566420"/>
            </a:xfrm>
            <a:prstGeom prst="rect">
              <a:avLst/>
            </a:prstGeom>
          </p:spPr>
          <p:txBody>
            <a:bodyPr lIns="0" tIns="0" rIns="0" bIns="0" rtlCol="0" anchor="t">
              <a:spAutoFit/>
            </a:bodyPr>
            <a:lstStyle/>
            <a:p>
              <a:pPr algn="ctr">
                <a:lnSpc>
                  <a:spcPts val="4480"/>
                </a:lnSpc>
                <a:spcBef>
                  <a:spcPct val="0"/>
                </a:spcBef>
              </a:pPr>
              <a:r>
                <a:rPr lang="en-US" sz="3200" dirty="0">
                  <a:solidFill>
                    <a:srgbClr val="000000"/>
                  </a:solidFill>
                  <a:latin typeface="Arial"/>
                  <a:ea typeface="Arial"/>
                  <a:cs typeface="Arial"/>
                  <a:sym typeface="Arial"/>
                </a:rPr>
                <a:t>Khai </a:t>
              </a:r>
              <a:r>
                <a:rPr lang="en-US" sz="3200" dirty="0" err="1">
                  <a:solidFill>
                    <a:srgbClr val="000000"/>
                  </a:solidFill>
                  <a:latin typeface="Arial"/>
                  <a:ea typeface="Arial"/>
                  <a:cs typeface="Arial"/>
                  <a:sym typeface="Arial"/>
                </a:rPr>
                <a:t>báo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phạm</a:t>
              </a:r>
              <a:r>
                <a:rPr lang="en-US" sz="3200" dirty="0">
                  <a:solidFill>
                    <a:srgbClr val="000000"/>
                  </a:solidFill>
                  <a:latin typeface="Arial"/>
                  <a:ea typeface="Arial"/>
                  <a:cs typeface="Arial"/>
                  <a:sym typeface="Arial"/>
                </a:rPr>
                <a:t> vi </a:t>
              </a:r>
              <a:r>
                <a:rPr lang="en-US" sz="3200" dirty="0" err="1">
                  <a:solidFill>
                    <a:srgbClr val="000000"/>
                  </a:solidFill>
                  <a:latin typeface="Arial"/>
                  <a:ea typeface="Arial"/>
                  <a:cs typeface="Arial"/>
                  <a:sym typeface="Arial"/>
                </a:rPr>
                <a:t>truy</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cập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công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khai</a:t>
              </a:r>
              <a:r>
                <a:rPr lang="en-US" sz="3200" dirty="0">
                  <a:solidFill>
                    <a:srgbClr val="000000"/>
                  </a:solidFill>
                  <a:latin typeface="Arial"/>
                  <a:ea typeface="Arial"/>
                  <a:cs typeface="Arial"/>
                  <a:sym typeface="Arial"/>
                </a:rPr>
                <a:t>  </a:t>
              </a:r>
            </a:p>
          </p:txBody>
        </p:sp>
        <p:sp>
          <p:nvSpPr>
            <p:cNvPr id="12" name="AutoShape 12"/>
            <p:cNvSpPr/>
            <p:nvPr/>
          </p:nvSpPr>
          <p:spPr>
            <a:xfrm>
              <a:off x="3344032" y="7147495"/>
              <a:ext cx="3770606" cy="0"/>
            </a:xfrm>
            <a:prstGeom prst="line">
              <a:avLst/>
            </a:prstGeom>
            <a:ln w="38100" cap="flat">
              <a:solidFill>
                <a:srgbClr val="000000"/>
              </a:solidFill>
              <a:prstDash val="solid"/>
              <a:headEnd type="none" w="sm" len="sm"/>
              <a:tailEnd type="triangle" w="lg" len="med"/>
            </a:ln>
          </p:spPr>
          <p:txBody>
            <a:bodyPr/>
            <a:lstStyle/>
            <a:p>
              <a:endParaRPr lang="en-US"/>
            </a:p>
          </p:txBody>
        </p:sp>
      </p:grpSp>
      <p:grpSp>
        <p:nvGrpSpPr>
          <p:cNvPr id="21" name="Nhóm 20">
            <a:extLst>
              <a:ext uri="{FF2B5EF4-FFF2-40B4-BE49-F238E27FC236}">
                <a16:creationId xmlns:a16="http://schemas.microsoft.com/office/drawing/2014/main" id="{A9676109-5C3C-C537-5018-4367F6A0A1CE}"/>
              </a:ext>
            </a:extLst>
          </p:cNvPr>
          <p:cNvGrpSpPr/>
          <p:nvPr/>
        </p:nvGrpSpPr>
        <p:grpSpPr>
          <a:xfrm>
            <a:off x="2967857" y="2243016"/>
            <a:ext cx="10472691" cy="566420"/>
            <a:chOff x="2967857" y="2243016"/>
            <a:chExt cx="10472691" cy="566420"/>
          </a:xfrm>
        </p:grpSpPr>
        <p:sp>
          <p:nvSpPr>
            <p:cNvPr id="7" name="TextBox 7"/>
            <p:cNvSpPr txBox="1"/>
            <p:nvPr/>
          </p:nvSpPr>
          <p:spPr>
            <a:xfrm>
              <a:off x="7114638" y="2243016"/>
              <a:ext cx="6325910" cy="566420"/>
            </a:xfrm>
            <a:prstGeom prst="rect">
              <a:avLst/>
            </a:prstGeom>
          </p:spPr>
          <p:txBody>
            <a:bodyPr lIns="0" tIns="0" rIns="0" bIns="0" rtlCol="0" anchor="t">
              <a:spAutoFit/>
            </a:bodyPr>
            <a:lstStyle/>
            <a:p>
              <a:pPr algn="ctr">
                <a:lnSpc>
                  <a:spcPts val="4480"/>
                </a:lnSpc>
                <a:spcBef>
                  <a:spcPct val="0"/>
                </a:spcBef>
              </a:pPr>
              <a:r>
                <a:rPr lang="en-US" sz="3200" dirty="0">
                  <a:solidFill>
                    <a:srgbClr val="000000"/>
                  </a:solidFill>
                  <a:latin typeface="Arial"/>
                  <a:ea typeface="Arial"/>
                  <a:cs typeface="Arial"/>
                  <a:sym typeface="Arial"/>
                </a:rPr>
                <a:t>Khai </a:t>
              </a:r>
              <a:r>
                <a:rPr lang="en-US" sz="3200" dirty="0" err="1">
                  <a:solidFill>
                    <a:srgbClr val="000000"/>
                  </a:solidFill>
                  <a:latin typeface="Arial"/>
                  <a:ea typeface="Arial"/>
                  <a:cs typeface="Arial"/>
                  <a:sym typeface="Arial"/>
                </a:rPr>
                <a:t>báo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phạm</a:t>
              </a:r>
              <a:r>
                <a:rPr lang="en-US" sz="3200" dirty="0">
                  <a:solidFill>
                    <a:srgbClr val="000000"/>
                  </a:solidFill>
                  <a:latin typeface="Arial"/>
                  <a:ea typeface="Arial"/>
                  <a:cs typeface="Arial"/>
                  <a:sym typeface="Arial"/>
                </a:rPr>
                <a:t> vi </a:t>
              </a:r>
              <a:r>
                <a:rPr lang="en-US" sz="3200" dirty="0" err="1">
                  <a:solidFill>
                    <a:srgbClr val="000000"/>
                  </a:solidFill>
                  <a:latin typeface="Arial"/>
                  <a:ea typeface="Arial"/>
                  <a:cs typeface="Arial"/>
                  <a:sym typeface="Arial"/>
                </a:rPr>
                <a:t>truy</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cập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riêng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tư</a:t>
              </a:r>
              <a:r>
                <a:rPr lang="en-US" sz="3200" dirty="0">
                  <a:solidFill>
                    <a:srgbClr val="000000"/>
                  </a:solidFill>
                  <a:latin typeface="Arial"/>
                  <a:ea typeface="Arial"/>
                  <a:cs typeface="Arial"/>
                  <a:sym typeface="Arial"/>
                </a:rPr>
                <a:t> </a:t>
              </a:r>
            </a:p>
          </p:txBody>
        </p:sp>
        <p:sp>
          <p:nvSpPr>
            <p:cNvPr id="13" name="AutoShape 13"/>
            <p:cNvSpPr/>
            <p:nvPr/>
          </p:nvSpPr>
          <p:spPr>
            <a:xfrm>
              <a:off x="2967857" y="2549189"/>
              <a:ext cx="3770606" cy="0"/>
            </a:xfrm>
            <a:prstGeom prst="line">
              <a:avLst/>
            </a:prstGeom>
            <a:ln w="38100" cap="flat">
              <a:solidFill>
                <a:srgbClr val="000000"/>
              </a:solidFill>
              <a:prstDash val="solid"/>
              <a:headEnd type="none" w="sm" len="sm"/>
              <a:tailEnd type="triangle" w="lg" len="med"/>
            </a:ln>
          </p:spPr>
          <p:txBody>
            <a:bodyPr/>
            <a:lstStyle/>
            <a:p>
              <a:endParaRPr lang="en-US"/>
            </a:p>
          </p:txBody>
        </p:sp>
      </p:grpSp>
      <p:grpSp>
        <p:nvGrpSpPr>
          <p:cNvPr id="20" name="Nhóm 19">
            <a:extLst>
              <a:ext uri="{FF2B5EF4-FFF2-40B4-BE49-F238E27FC236}">
                <a16:creationId xmlns:a16="http://schemas.microsoft.com/office/drawing/2014/main" id="{3F77E666-2BFC-85C1-B4B4-DD91407E09CC}"/>
              </a:ext>
            </a:extLst>
          </p:cNvPr>
          <p:cNvGrpSpPr/>
          <p:nvPr/>
        </p:nvGrpSpPr>
        <p:grpSpPr>
          <a:xfrm>
            <a:off x="5436168" y="1762321"/>
            <a:ext cx="10349077" cy="566420"/>
            <a:chOff x="5436168" y="1762321"/>
            <a:chExt cx="10349077" cy="566420"/>
          </a:xfrm>
        </p:grpSpPr>
        <p:sp>
          <p:nvSpPr>
            <p:cNvPr id="5" name="TextBox 5"/>
            <p:cNvSpPr txBox="1"/>
            <p:nvPr/>
          </p:nvSpPr>
          <p:spPr>
            <a:xfrm>
              <a:off x="7114638" y="1762321"/>
              <a:ext cx="8670607" cy="566420"/>
            </a:xfrm>
            <a:prstGeom prst="rect">
              <a:avLst/>
            </a:prstGeom>
          </p:spPr>
          <p:txBody>
            <a:bodyPr lIns="0" tIns="0" rIns="0" bIns="0" rtlCol="0" anchor="t">
              <a:spAutoFit/>
            </a:bodyPr>
            <a:lstStyle/>
            <a:p>
              <a:pPr algn="ctr">
                <a:lnSpc>
                  <a:spcPts val="4480"/>
                </a:lnSpc>
                <a:spcBef>
                  <a:spcPct val="0"/>
                </a:spcBef>
              </a:pPr>
              <a:r>
                <a:rPr lang="en-US" sz="3200" dirty="0">
                  <a:solidFill>
                    <a:srgbClr val="000000"/>
                  </a:solidFill>
                  <a:latin typeface="Arial"/>
                  <a:ea typeface="Arial"/>
                  <a:cs typeface="Arial"/>
                  <a:sym typeface="Arial"/>
                </a:rPr>
                <a:t>Định </a:t>
              </a:r>
              <a:r>
                <a:rPr lang="en-US" sz="3200" dirty="0" err="1">
                  <a:solidFill>
                    <a:srgbClr val="000000"/>
                  </a:solidFill>
                  <a:latin typeface="Arial"/>
                  <a:ea typeface="Arial"/>
                  <a:cs typeface="Arial"/>
                  <a:sym typeface="Arial"/>
                </a:rPr>
                <a:t>nghĩa</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lớp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chính</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có</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tên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là</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QuanLyHopDong</a:t>
              </a:r>
              <a:endParaRPr lang="en-US" sz="3200" dirty="0">
                <a:solidFill>
                  <a:srgbClr val="000000"/>
                </a:solidFill>
                <a:latin typeface="Arial"/>
                <a:ea typeface="Arial"/>
                <a:cs typeface="Arial"/>
                <a:sym typeface="Arial"/>
              </a:endParaRPr>
            </a:p>
          </p:txBody>
        </p:sp>
        <p:sp>
          <p:nvSpPr>
            <p:cNvPr id="14" name="AutoShape 14"/>
            <p:cNvSpPr/>
            <p:nvPr/>
          </p:nvSpPr>
          <p:spPr>
            <a:xfrm flipV="1">
              <a:off x="5436168" y="2088394"/>
              <a:ext cx="1302295" cy="19050"/>
            </a:xfrm>
            <a:prstGeom prst="line">
              <a:avLst/>
            </a:prstGeom>
            <a:ln w="38100" cap="flat">
              <a:solidFill>
                <a:srgbClr val="000000"/>
              </a:solidFill>
              <a:prstDash val="solid"/>
              <a:headEnd type="none" w="sm" len="sm"/>
              <a:tailEnd type="triangle" w="lg" len="med"/>
            </a:ln>
          </p:spPr>
          <p:txBody>
            <a:bodyPr/>
            <a:lstStyle/>
            <a:p>
              <a:endParaRPr lang="en-US"/>
            </a:p>
          </p:txBody>
        </p:sp>
      </p:grpSp>
      <p:grpSp>
        <p:nvGrpSpPr>
          <p:cNvPr id="25" name="Nhóm 24">
            <a:extLst>
              <a:ext uri="{FF2B5EF4-FFF2-40B4-BE49-F238E27FC236}">
                <a16:creationId xmlns:a16="http://schemas.microsoft.com/office/drawing/2014/main" id="{B201B1C1-29EC-BEBF-F69F-8A71886B63DC}"/>
              </a:ext>
            </a:extLst>
          </p:cNvPr>
          <p:cNvGrpSpPr/>
          <p:nvPr/>
        </p:nvGrpSpPr>
        <p:grpSpPr>
          <a:xfrm>
            <a:off x="5932825" y="7598054"/>
            <a:ext cx="11903944" cy="1201104"/>
            <a:chOff x="5932825" y="7598054"/>
            <a:chExt cx="11903944" cy="1201104"/>
          </a:xfrm>
        </p:grpSpPr>
        <p:sp>
          <p:nvSpPr>
            <p:cNvPr id="15" name="TextBox 15"/>
            <p:cNvSpPr txBox="1"/>
            <p:nvPr/>
          </p:nvSpPr>
          <p:spPr>
            <a:xfrm>
              <a:off x="5932825" y="7598054"/>
              <a:ext cx="243602" cy="1201104"/>
            </a:xfrm>
            <a:prstGeom prst="rect">
              <a:avLst/>
            </a:prstGeom>
          </p:spPr>
          <p:txBody>
            <a:bodyPr lIns="0" tIns="0" rIns="0" bIns="0" rtlCol="0" anchor="t">
              <a:spAutoFit/>
            </a:bodyPr>
            <a:lstStyle/>
            <a:p>
              <a:pPr algn="ctr">
                <a:lnSpc>
                  <a:spcPts val="9659"/>
                </a:lnSpc>
                <a:spcBef>
                  <a:spcPct val="0"/>
                </a:spcBef>
              </a:pPr>
              <a:r>
                <a:rPr lang="en-US" sz="6899" dirty="0">
                  <a:solidFill>
                    <a:srgbClr val="000000"/>
                  </a:solidFill>
                  <a:latin typeface="Arial"/>
                  <a:ea typeface="Arial"/>
                  <a:cs typeface="Arial"/>
                  <a:sym typeface="Arial"/>
                </a:rPr>
                <a:t>]</a:t>
              </a:r>
            </a:p>
          </p:txBody>
        </p:sp>
        <p:sp>
          <p:nvSpPr>
            <p:cNvPr id="16" name="TextBox 16"/>
            <p:cNvSpPr txBox="1"/>
            <p:nvPr/>
          </p:nvSpPr>
          <p:spPr>
            <a:xfrm>
              <a:off x="6424509" y="7914628"/>
              <a:ext cx="11412260" cy="566420"/>
            </a:xfrm>
            <a:prstGeom prst="rect">
              <a:avLst/>
            </a:prstGeom>
          </p:spPr>
          <p:txBody>
            <a:bodyPr lIns="0" tIns="0" rIns="0" bIns="0" rtlCol="0" anchor="t">
              <a:spAutoFit/>
            </a:bodyPr>
            <a:lstStyle/>
            <a:p>
              <a:pPr algn="ctr">
                <a:lnSpc>
                  <a:spcPts val="4480"/>
                </a:lnSpc>
                <a:spcBef>
                  <a:spcPct val="0"/>
                </a:spcBef>
              </a:pPr>
              <a:r>
                <a:rPr lang="en-US" sz="3200" dirty="0" err="1">
                  <a:solidFill>
                    <a:srgbClr val="000000"/>
                  </a:solidFill>
                  <a:latin typeface="Arial"/>
                  <a:ea typeface="Arial"/>
                  <a:cs typeface="Arial"/>
                  <a:sym typeface="Arial"/>
                </a:rPr>
                <a:t>Hàm</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tạo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không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tham</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số</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gán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số</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lượng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hợp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đồng</a:t>
              </a:r>
              <a:r>
                <a:rPr lang="en-US" sz="3200" dirty="0">
                  <a:solidFill>
                    <a:srgbClr val="000000"/>
                  </a:solidFill>
                  <a:latin typeface="Arial"/>
                  <a:ea typeface="Arial"/>
                  <a:cs typeface="Arial"/>
                  <a:sym typeface="Arial"/>
                </a:rPr>
                <a:t> ban </a:t>
              </a:r>
              <a:r>
                <a:rPr lang="en-US" sz="3200" dirty="0" err="1">
                  <a:solidFill>
                    <a:srgbClr val="000000"/>
                  </a:solidFill>
                  <a:latin typeface="Arial"/>
                  <a:ea typeface="Arial"/>
                  <a:cs typeface="Arial"/>
                  <a:sym typeface="Arial"/>
                </a:rPr>
                <a:t>đầu</a:t>
              </a:r>
              <a:r>
                <a:rPr lang="en-US" sz="3200" dirty="0">
                  <a:solidFill>
                    <a:srgbClr val="000000"/>
                  </a:solidFill>
                  <a:latin typeface="Arial"/>
                  <a:ea typeface="Arial"/>
                  <a:cs typeface="Arial"/>
                  <a:sym typeface="Arial"/>
                </a:rPr>
                <a:t> n = 0</a:t>
              </a:r>
            </a:p>
          </p:txBody>
        </p:sp>
      </p:grpSp>
      <p:grpSp>
        <p:nvGrpSpPr>
          <p:cNvPr id="26" name="Nhóm 25">
            <a:extLst>
              <a:ext uri="{FF2B5EF4-FFF2-40B4-BE49-F238E27FC236}">
                <a16:creationId xmlns:a16="http://schemas.microsoft.com/office/drawing/2014/main" id="{D5255FC1-63C8-FF66-AD48-627428CD1F14}"/>
              </a:ext>
            </a:extLst>
          </p:cNvPr>
          <p:cNvGrpSpPr/>
          <p:nvPr/>
        </p:nvGrpSpPr>
        <p:grpSpPr>
          <a:xfrm>
            <a:off x="13376510" y="9126022"/>
            <a:ext cx="3911462" cy="1201104"/>
            <a:chOff x="13376510" y="9126022"/>
            <a:chExt cx="3911462" cy="1201104"/>
          </a:xfrm>
        </p:grpSpPr>
        <p:sp>
          <p:nvSpPr>
            <p:cNvPr id="17" name="TextBox 17"/>
            <p:cNvSpPr txBox="1"/>
            <p:nvPr/>
          </p:nvSpPr>
          <p:spPr>
            <a:xfrm>
              <a:off x="13376510" y="9126022"/>
              <a:ext cx="243602" cy="1201104"/>
            </a:xfrm>
            <a:prstGeom prst="rect">
              <a:avLst/>
            </a:prstGeom>
          </p:spPr>
          <p:txBody>
            <a:bodyPr lIns="0" tIns="0" rIns="0" bIns="0" rtlCol="0" anchor="t">
              <a:spAutoFit/>
            </a:bodyPr>
            <a:lstStyle/>
            <a:p>
              <a:pPr algn="ctr">
                <a:lnSpc>
                  <a:spcPts val="9659"/>
                </a:lnSpc>
                <a:spcBef>
                  <a:spcPct val="0"/>
                </a:spcBef>
              </a:pPr>
              <a:r>
                <a:rPr lang="en-US" sz="6899" dirty="0">
                  <a:solidFill>
                    <a:srgbClr val="000000"/>
                  </a:solidFill>
                  <a:latin typeface="Arial"/>
                  <a:ea typeface="Arial"/>
                  <a:cs typeface="Arial"/>
                  <a:sym typeface="Arial"/>
                </a:rPr>
                <a:t>]</a:t>
              </a:r>
            </a:p>
          </p:txBody>
        </p:sp>
        <p:sp>
          <p:nvSpPr>
            <p:cNvPr id="18" name="TextBox 18"/>
            <p:cNvSpPr txBox="1"/>
            <p:nvPr/>
          </p:nvSpPr>
          <p:spPr>
            <a:xfrm>
              <a:off x="13989345" y="9443364"/>
              <a:ext cx="3298627" cy="566420"/>
            </a:xfrm>
            <a:prstGeom prst="rect">
              <a:avLst/>
            </a:prstGeom>
          </p:spPr>
          <p:txBody>
            <a:bodyPr lIns="0" tIns="0" rIns="0" bIns="0" rtlCol="0" anchor="t">
              <a:spAutoFit/>
            </a:bodyPr>
            <a:lstStyle/>
            <a:p>
              <a:pPr algn="ctr">
                <a:lnSpc>
                  <a:spcPts val="4480"/>
                </a:lnSpc>
                <a:spcBef>
                  <a:spcPct val="0"/>
                </a:spcBef>
              </a:pPr>
              <a:r>
                <a:rPr lang="en-US" sz="3200" dirty="0">
                  <a:solidFill>
                    <a:srgbClr val="000000"/>
                  </a:solidFill>
                  <a:latin typeface="Arial"/>
                  <a:ea typeface="Arial"/>
                  <a:cs typeface="Arial"/>
                  <a:sym typeface="Arial"/>
                </a:rPr>
                <a:t>Khai </a:t>
              </a:r>
              <a:r>
                <a:rPr lang="en-US" sz="3200" dirty="0" err="1">
                  <a:solidFill>
                    <a:srgbClr val="000000"/>
                  </a:solidFill>
                  <a:latin typeface="Arial"/>
                  <a:ea typeface="Arial"/>
                  <a:cs typeface="Arial"/>
                  <a:sym typeface="Arial"/>
                </a:rPr>
                <a:t>báo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hàm</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bạn</a:t>
              </a:r>
              <a:endParaRPr lang="en-US" sz="3200" dirty="0">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2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2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5"/>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226" y="969962"/>
            <a:ext cx="11180939" cy="8200132"/>
          </a:xfrm>
          <a:custGeom>
            <a:avLst/>
            <a:gdLst/>
            <a:ahLst/>
            <a:cxnLst/>
            <a:rect l="l" t="t" r="r" b="b"/>
            <a:pathLst>
              <a:path w="11180939" h="8200132">
                <a:moveTo>
                  <a:pt x="0" y="0"/>
                </a:moveTo>
                <a:lnTo>
                  <a:pt x="11180939" y="0"/>
                </a:lnTo>
                <a:lnTo>
                  <a:pt x="11180939" y="8200132"/>
                </a:lnTo>
                <a:lnTo>
                  <a:pt x="0" y="8200132"/>
                </a:lnTo>
                <a:lnTo>
                  <a:pt x="0" y="0"/>
                </a:lnTo>
                <a:close/>
              </a:path>
            </a:pathLst>
          </a:custGeom>
          <a:blipFill>
            <a:blip r:embed="rId2"/>
            <a:stretch>
              <a:fillRect l="-3294" r="-54630"/>
            </a:stretch>
          </a:blipFill>
        </p:spPr>
        <p:txBody>
          <a:bodyPr/>
          <a:lstStyle/>
          <a:p>
            <a:endParaRPr lang="en-US"/>
          </a:p>
        </p:txBody>
      </p:sp>
      <p:sp>
        <p:nvSpPr>
          <p:cNvPr id="3" name="TextBox 3"/>
          <p:cNvSpPr txBox="1"/>
          <p:nvPr/>
        </p:nvSpPr>
        <p:spPr>
          <a:xfrm>
            <a:off x="8991600" y="3736340"/>
            <a:ext cx="9025316" cy="2814320"/>
          </a:xfrm>
          <a:prstGeom prst="rect">
            <a:avLst/>
          </a:prstGeom>
        </p:spPr>
        <p:txBody>
          <a:bodyPr lIns="0" tIns="0" rIns="0" bIns="0" rtlCol="0" anchor="t">
            <a:spAutoFit/>
          </a:bodyPr>
          <a:lstStyle/>
          <a:p>
            <a:pPr algn="l">
              <a:lnSpc>
                <a:spcPts val="4480"/>
              </a:lnSpc>
              <a:spcBef>
                <a:spcPct val="0"/>
              </a:spcBef>
            </a:pPr>
            <a:r>
              <a:rPr lang="en-US" sz="3200" dirty="0" err="1">
                <a:solidFill>
                  <a:srgbClr val="000000"/>
                </a:solidFill>
                <a:latin typeface="Arial"/>
                <a:ea typeface="Arial"/>
                <a:cs typeface="Arial"/>
                <a:sym typeface="Arial"/>
              </a:rPr>
              <a:t>Hàm</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nhap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phép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nhập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số</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lượng</a:t>
            </a:r>
            <a:r>
              <a:rPr lang="en-US" sz="3200" dirty="0">
                <a:solidFill>
                  <a:srgbClr val="000000"/>
                </a:solidFill>
                <a:latin typeface="Arial"/>
                <a:ea typeface="Arial"/>
                <a:cs typeface="Arial"/>
                <a:sym typeface="Arial"/>
              </a:rPr>
              <a:t> n </a:t>
            </a:r>
            <a:r>
              <a:rPr lang="en-US" sz="3200" dirty="0" err="1">
                <a:solidFill>
                  <a:srgbClr val="000000"/>
                </a:solidFill>
                <a:latin typeface="Arial"/>
                <a:ea typeface="Arial"/>
                <a:cs typeface="Arial"/>
                <a:sym typeface="Arial"/>
              </a:rPr>
              <a:t>và</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lần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lượt</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từng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thông</a:t>
            </a:r>
            <a:r>
              <a:rPr lang="en-US" sz="3200" dirty="0">
                <a:solidFill>
                  <a:srgbClr val="000000"/>
                </a:solidFill>
                <a:latin typeface="Arial"/>
                <a:ea typeface="Arial"/>
                <a:cs typeface="Arial"/>
                <a:sym typeface="Arial"/>
              </a:rPr>
              <a:t> tin </a:t>
            </a:r>
            <a:r>
              <a:rPr lang="en-US" sz="3200" dirty="0" err="1">
                <a:solidFill>
                  <a:srgbClr val="000000"/>
                </a:solidFill>
                <a:latin typeface="Arial"/>
                <a:ea typeface="Arial"/>
                <a:cs typeface="Arial"/>
                <a:sym typeface="Arial"/>
              </a:rPr>
              <a:t>hợp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đồng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vào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mảng</a:t>
            </a:r>
            <a:r>
              <a:rPr lang="en-US" sz="3200" dirty="0">
                <a:solidFill>
                  <a:srgbClr val="000000"/>
                </a:solidFill>
                <a:latin typeface="Arial"/>
                <a:ea typeface="Arial"/>
                <a:cs typeface="Arial"/>
                <a:sym typeface="Arial"/>
              </a:rPr>
              <a:t> a. </a:t>
            </a:r>
          </a:p>
          <a:p>
            <a:pPr marL="690881" lvl="1" indent="-345440" algn="l">
              <a:lnSpc>
                <a:spcPts val="4480"/>
              </a:lnSpc>
              <a:spcBef>
                <a:spcPct val="0"/>
              </a:spcBef>
              <a:buFont typeface="Arial"/>
              <a:buChar char="•"/>
            </a:pPr>
            <a:r>
              <a:rPr lang="en-US" sz="3200" dirty="0" err="1">
                <a:solidFill>
                  <a:srgbClr val="000000"/>
                </a:solidFill>
                <a:latin typeface="Arial"/>
                <a:ea typeface="Arial"/>
                <a:cs typeface="Arial"/>
                <a:sym typeface="Arial"/>
              </a:rPr>
              <a:t>cin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nhập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dữ</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liệu</a:t>
            </a:r>
            <a:r>
              <a:rPr lang="en-US" sz="3200" dirty="0">
                <a:solidFill>
                  <a:srgbClr val="000000"/>
                </a:solidFill>
                <a:latin typeface="Arial"/>
                <a:ea typeface="Arial"/>
                <a:cs typeface="Arial"/>
                <a:sym typeface="Arial"/>
              </a:rPr>
              <a:t> </a:t>
            </a:r>
          </a:p>
          <a:p>
            <a:pPr marL="690881" lvl="1" indent="-345440" algn="l">
              <a:lnSpc>
                <a:spcPts val="4480"/>
              </a:lnSpc>
              <a:spcBef>
                <a:spcPct val="0"/>
              </a:spcBef>
              <a:buFont typeface="Arial"/>
              <a:buChar char="•"/>
            </a:pPr>
            <a:r>
              <a:rPr lang="en-US" sz="3200" dirty="0" err="1">
                <a:solidFill>
                  <a:srgbClr val="000000"/>
                </a:solidFill>
                <a:latin typeface="Arial"/>
                <a:ea typeface="Arial"/>
                <a:cs typeface="Arial"/>
                <a:sym typeface="Arial"/>
              </a:rPr>
              <a:t>cout</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xuất</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dữ</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liệu</a:t>
            </a:r>
            <a:r>
              <a:rPr lang="en-US" sz="3200" dirty="0">
                <a:solidFill>
                  <a:srgbClr val="000000"/>
                </a:solidFill>
                <a:latin typeface="Arial"/>
                <a:ea typeface="Arial"/>
                <a:cs typeface="Arial"/>
                <a:sym typeface="Arial"/>
              </a:rPr>
              <a:t> </a:t>
            </a:r>
          </a:p>
          <a:p>
            <a:pPr algn="l">
              <a:lnSpc>
                <a:spcPts val="4480"/>
              </a:lnSpc>
              <a:spcBef>
                <a:spcPct val="0"/>
              </a:spcBef>
            </a:pPr>
            <a:endParaRPr lang="en-US" sz="3200" dirty="0">
              <a:solidFill>
                <a:srgbClr val="000000"/>
              </a:solidFill>
              <a:latin typeface="Arial"/>
              <a:ea typeface="Arial"/>
              <a:cs typeface="Arial"/>
              <a:sym typeface="Arial"/>
            </a:endParaRPr>
          </a:p>
        </p:txBody>
      </p:sp>
      <p:sp>
        <p:nvSpPr>
          <p:cNvPr id="5" name="TextBox 5"/>
          <p:cNvSpPr txBox="1"/>
          <p:nvPr/>
        </p:nvSpPr>
        <p:spPr>
          <a:xfrm>
            <a:off x="8991600" y="3771942"/>
            <a:ext cx="8790059" cy="1690370"/>
          </a:xfrm>
          <a:prstGeom prst="rect">
            <a:avLst/>
          </a:prstGeom>
        </p:spPr>
        <p:txBody>
          <a:bodyPr lIns="0" tIns="0" rIns="0" bIns="0" rtlCol="0" anchor="t">
            <a:spAutoFit/>
          </a:bodyPr>
          <a:lstStyle/>
          <a:p>
            <a:pPr algn="l">
              <a:lnSpc>
                <a:spcPts val="4480"/>
              </a:lnSpc>
              <a:spcBef>
                <a:spcPct val="0"/>
              </a:spcBef>
            </a:pPr>
            <a:r>
              <a:rPr lang="en-US" sz="3200" dirty="0" err="1">
                <a:solidFill>
                  <a:srgbClr val="000000"/>
                </a:solidFill>
                <a:latin typeface="Arial"/>
                <a:ea typeface="Arial"/>
                <a:cs typeface="Arial"/>
                <a:sym typeface="Arial"/>
              </a:rPr>
              <a:t>Sử</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dụng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cin.get</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kết</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hợp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với</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cin.getline</a:t>
            </a:r>
            <a:r>
              <a:rPr lang="en-US" sz="3200" dirty="0">
                <a:solidFill>
                  <a:srgbClr val="000000"/>
                </a:solidFill>
                <a:latin typeface="Arial"/>
                <a:ea typeface="Arial"/>
                <a:cs typeface="Arial"/>
                <a:sym typeface="Arial"/>
              </a:rPr>
              <a:t>(a[</a:t>
            </a:r>
            <a:r>
              <a:rPr lang="en-US" sz="3200" dirty="0" err="1">
                <a:solidFill>
                  <a:srgbClr val="000000"/>
                </a:solidFill>
                <a:latin typeface="Arial"/>
                <a:ea typeface="Arial"/>
                <a:cs typeface="Arial"/>
                <a:sym typeface="Arial"/>
              </a:rPr>
              <a:t>i</a:t>
            </a:r>
            <a:r>
              <a:rPr lang="en-US" sz="3200" dirty="0">
                <a:solidFill>
                  <a:srgbClr val="000000"/>
                </a:solidFill>
                <a:latin typeface="Arial"/>
                <a:ea typeface="Arial"/>
                <a:cs typeface="Arial"/>
                <a:sym typeface="Arial"/>
              </a:rPr>
              <a:t>].</a:t>
            </a:r>
            <a:r>
              <a:rPr lang="en-US" sz="3200" dirty="0" err="1">
                <a:solidFill>
                  <a:srgbClr val="000000"/>
                </a:solidFill>
                <a:latin typeface="Arial"/>
                <a:ea typeface="Arial"/>
                <a:cs typeface="Arial"/>
                <a:sym typeface="Arial"/>
              </a:rPr>
              <a:t>hoTen</a:t>
            </a:r>
            <a:r>
              <a:rPr lang="en-US" sz="3200" dirty="0">
                <a:solidFill>
                  <a:srgbClr val="000000"/>
                </a:solidFill>
                <a:latin typeface="Arial"/>
                <a:ea typeface="Arial"/>
                <a:cs typeface="Arial"/>
                <a:sym typeface="Arial"/>
              </a:rPr>
              <a:t>, 50) </a:t>
            </a:r>
            <a:r>
              <a:rPr lang="en-US" sz="3200" dirty="0" err="1">
                <a:solidFill>
                  <a:srgbClr val="000000"/>
                </a:solidFill>
                <a:latin typeface="Arial"/>
                <a:ea typeface="Arial"/>
                <a:cs typeface="Arial"/>
                <a:sym typeface="Arial"/>
              </a:rPr>
              <a:t>để</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đọc</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chuỗi</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họ</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tên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có</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khoảng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trắng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mà</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không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bị</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trôi</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lệnh</a:t>
            </a:r>
            <a:r>
              <a:rPr lang="en-US" sz="3200" dirty="0">
                <a:solidFill>
                  <a:srgbClr val="000000"/>
                </a:solidFill>
                <a:latin typeface="Arial"/>
                <a:ea typeface="Arial"/>
                <a:cs typeface="Arial"/>
                <a:sym typeface="Aria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p:bldP spid="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815173"/>
            <a:ext cx="13230152" cy="5707723"/>
          </a:xfrm>
          <a:custGeom>
            <a:avLst/>
            <a:gdLst/>
            <a:ahLst/>
            <a:cxnLst/>
            <a:rect l="l" t="t" r="r" b="b"/>
            <a:pathLst>
              <a:path w="13230152" h="5707723">
                <a:moveTo>
                  <a:pt x="0" y="0"/>
                </a:moveTo>
                <a:lnTo>
                  <a:pt x="13230152" y="0"/>
                </a:lnTo>
                <a:lnTo>
                  <a:pt x="13230152" y="5707722"/>
                </a:lnTo>
                <a:lnTo>
                  <a:pt x="0" y="5707722"/>
                </a:lnTo>
                <a:lnTo>
                  <a:pt x="0" y="0"/>
                </a:lnTo>
                <a:close/>
              </a:path>
            </a:pathLst>
          </a:custGeom>
          <a:blipFill>
            <a:blip r:embed="rId2"/>
            <a:stretch>
              <a:fillRect r="-24912"/>
            </a:stretch>
          </a:blipFill>
        </p:spPr>
        <p:txBody>
          <a:bodyPr/>
          <a:lstStyle/>
          <a:p>
            <a:endParaRPr lang="en-US"/>
          </a:p>
        </p:txBody>
      </p:sp>
      <p:sp>
        <p:nvSpPr>
          <p:cNvPr id="3" name="Freeform 3"/>
          <p:cNvSpPr/>
          <p:nvPr/>
        </p:nvSpPr>
        <p:spPr>
          <a:xfrm flipH="1">
            <a:off x="13230152" y="2712167"/>
            <a:ext cx="931637" cy="3964414"/>
          </a:xfrm>
          <a:custGeom>
            <a:avLst/>
            <a:gdLst/>
            <a:ahLst/>
            <a:cxnLst/>
            <a:rect l="l" t="t" r="r" b="b"/>
            <a:pathLst>
              <a:path w="931637" h="3964414">
                <a:moveTo>
                  <a:pt x="931637" y="0"/>
                </a:moveTo>
                <a:lnTo>
                  <a:pt x="0" y="0"/>
                </a:lnTo>
                <a:lnTo>
                  <a:pt x="0" y="3964413"/>
                </a:lnTo>
                <a:lnTo>
                  <a:pt x="931637" y="3964413"/>
                </a:lnTo>
                <a:lnTo>
                  <a:pt x="93163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4512332" y="4042027"/>
            <a:ext cx="3250416" cy="1128395"/>
          </a:xfrm>
          <a:prstGeom prst="rect">
            <a:avLst/>
          </a:prstGeom>
        </p:spPr>
        <p:txBody>
          <a:bodyPr lIns="0" tIns="0" rIns="0" bIns="0" rtlCol="0" anchor="t">
            <a:spAutoFit/>
          </a:bodyPr>
          <a:lstStyle/>
          <a:p>
            <a:pPr algn="ctr">
              <a:lnSpc>
                <a:spcPts val="4480"/>
              </a:lnSpc>
              <a:spcBef>
                <a:spcPct val="0"/>
              </a:spcBef>
            </a:pPr>
            <a:r>
              <a:rPr lang="en-US" sz="3200">
                <a:solidFill>
                  <a:srgbClr val="000000"/>
                </a:solidFill>
                <a:latin typeface="Arial"/>
                <a:ea typeface="Arial"/>
                <a:cs typeface="Arial"/>
                <a:sym typeface="Arial"/>
              </a:rPr>
              <a:t>In thông tin ra màn hình.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4095688" cy="10171065"/>
          </a:xfrm>
          <a:custGeom>
            <a:avLst/>
            <a:gdLst/>
            <a:ahLst/>
            <a:cxnLst/>
            <a:rect l="l" t="t" r="r" b="b"/>
            <a:pathLst>
              <a:path w="14095688" h="10171065">
                <a:moveTo>
                  <a:pt x="0" y="0"/>
                </a:moveTo>
                <a:lnTo>
                  <a:pt x="14095688" y="0"/>
                </a:lnTo>
                <a:lnTo>
                  <a:pt x="14095688" y="10171065"/>
                </a:lnTo>
                <a:lnTo>
                  <a:pt x="0" y="10171065"/>
                </a:lnTo>
                <a:lnTo>
                  <a:pt x="0" y="0"/>
                </a:lnTo>
                <a:close/>
              </a:path>
            </a:pathLst>
          </a:custGeom>
          <a:blipFill>
            <a:blip r:embed="rId2"/>
            <a:stretch>
              <a:fillRect/>
            </a:stretch>
          </a:blipFill>
        </p:spPr>
        <p:txBody>
          <a:bodyPr/>
          <a:lstStyle/>
          <a:p>
            <a:endParaRPr lang="en-US"/>
          </a:p>
        </p:txBody>
      </p:sp>
      <p:grpSp>
        <p:nvGrpSpPr>
          <p:cNvPr id="8" name="Nhóm 7">
            <a:extLst>
              <a:ext uri="{FF2B5EF4-FFF2-40B4-BE49-F238E27FC236}">
                <a16:creationId xmlns:a16="http://schemas.microsoft.com/office/drawing/2014/main" id="{C1871464-D79E-E9AF-5F97-4961F086605F}"/>
              </a:ext>
            </a:extLst>
          </p:cNvPr>
          <p:cNvGrpSpPr/>
          <p:nvPr/>
        </p:nvGrpSpPr>
        <p:grpSpPr>
          <a:xfrm>
            <a:off x="8970362" y="1269480"/>
            <a:ext cx="8543944" cy="1477771"/>
            <a:chOff x="8970362" y="1269480"/>
            <a:chExt cx="8543944" cy="1477771"/>
          </a:xfrm>
        </p:grpSpPr>
        <p:sp>
          <p:nvSpPr>
            <p:cNvPr id="3" name="Freeform 3"/>
            <p:cNvSpPr/>
            <p:nvPr/>
          </p:nvSpPr>
          <p:spPr>
            <a:xfrm flipH="1">
              <a:off x="8970362" y="1269480"/>
              <a:ext cx="347276" cy="1477771"/>
            </a:xfrm>
            <a:custGeom>
              <a:avLst/>
              <a:gdLst/>
              <a:ahLst/>
              <a:cxnLst/>
              <a:rect l="l" t="t" r="r" b="b"/>
              <a:pathLst>
                <a:path w="347276" h="1477771">
                  <a:moveTo>
                    <a:pt x="347276" y="0"/>
                  </a:moveTo>
                  <a:lnTo>
                    <a:pt x="0" y="0"/>
                  </a:lnTo>
                  <a:lnTo>
                    <a:pt x="0" y="1477771"/>
                  </a:lnTo>
                  <a:lnTo>
                    <a:pt x="347276" y="1477771"/>
                  </a:lnTo>
                  <a:lnTo>
                    <a:pt x="347276"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9884543" y="1682293"/>
              <a:ext cx="7629763" cy="566420"/>
            </a:xfrm>
            <a:prstGeom prst="rect">
              <a:avLst/>
            </a:prstGeom>
          </p:spPr>
          <p:txBody>
            <a:bodyPr lIns="0" tIns="0" rIns="0" bIns="0" rtlCol="0" anchor="t">
              <a:spAutoFit/>
            </a:bodyPr>
            <a:lstStyle/>
            <a:p>
              <a:pPr algn="ctr">
                <a:lnSpc>
                  <a:spcPts val="4480"/>
                </a:lnSpc>
                <a:spcBef>
                  <a:spcPct val="0"/>
                </a:spcBef>
              </a:pPr>
              <a:r>
                <a:rPr lang="en-US" sz="3200" dirty="0" err="1">
                  <a:solidFill>
                    <a:srgbClr val="000000"/>
                  </a:solidFill>
                  <a:latin typeface="Arial"/>
                  <a:ea typeface="Arial"/>
                  <a:cs typeface="Arial"/>
                  <a:sym typeface="Arial"/>
                </a:rPr>
                <a:t>Kiểm</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tra</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vị</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trí</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chèn</a:t>
              </a:r>
              <a:r>
                <a:rPr lang="en-US" sz="3200" dirty="0">
                  <a:solidFill>
                    <a:srgbClr val="000000"/>
                  </a:solidFill>
                  <a:latin typeface="Arial"/>
                  <a:ea typeface="Arial"/>
                  <a:cs typeface="Arial"/>
                  <a:sym typeface="Arial"/>
                </a:rPr>
                <a:t> k </a:t>
              </a:r>
              <a:r>
                <a:rPr lang="en-US" sz="3200" dirty="0" err="1">
                  <a:solidFill>
                    <a:srgbClr val="000000"/>
                  </a:solidFill>
                  <a:latin typeface="Arial"/>
                  <a:ea typeface="Arial"/>
                  <a:cs typeface="Arial"/>
                  <a:sym typeface="Arial"/>
                </a:rPr>
                <a:t>hợp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lệ</a:t>
              </a:r>
              <a:r>
                <a:rPr lang="en-US" sz="3200" dirty="0">
                  <a:solidFill>
                    <a:srgbClr val="000000"/>
                  </a:solidFill>
                  <a:latin typeface="Arial"/>
                  <a:ea typeface="Arial"/>
                  <a:cs typeface="Arial"/>
                  <a:sym typeface="Arial"/>
                </a:rPr>
                <a:t> ( 0&lt;= k&lt;= n ). </a:t>
              </a:r>
            </a:p>
          </p:txBody>
        </p:sp>
      </p:grpSp>
      <p:sp>
        <p:nvSpPr>
          <p:cNvPr id="6" name="TextBox 6"/>
          <p:cNvSpPr txBox="1"/>
          <p:nvPr/>
        </p:nvSpPr>
        <p:spPr>
          <a:xfrm>
            <a:off x="9742513" y="4381500"/>
            <a:ext cx="7352420" cy="1128395"/>
          </a:xfrm>
          <a:prstGeom prst="rect">
            <a:avLst/>
          </a:prstGeom>
        </p:spPr>
        <p:txBody>
          <a:bodyPr lIns="0" tIns="0" rIns="0" bIns="0" rtlCol="0" anchor="t">
            <a:spAutoFit/>
          </a:bodyPr>
          <a:lstStyle/>
          <a:p>
            <a:pPr algn="l">
              <a:lnSpc>
                <a:spcPts val="4480"/>
              </a:lnSpc>
              <a:spcBef>
                <a:spcPct val="0"/>
              </a:spcBef>
            </a:pPr>
            <a:r>
              <a:rPr lang="en-US" sz="3200" dirty="0">
                <a:solidFill>
                  <a:srgbClr val="000000"/>
                </a:solidFill>
                <a:latin typeface="Arial"/>
                <a:ea typeface="Arial"/>
                <a:cs typeface="Arial"/>
                <a:sym typeface="Arial"/>
              </a:rPr>
              <a:t>Nhập </a:t>
            </a:r>
            <a:r>
              <a:rPr lang="en-US" sz="3200" dirty="0" err="1">
                <a:solidFill>
                  <a:srgbClr val="000000"/>
                </a:solidFill>
                <a:latin typeface="Arial"/>
                <a:ea typeface="Arial"/>
                <a:cs typeface="Arial"/>
                <a:sym typeface="Arial"/>
              </a:rPr>
              <a:t>dữ</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liệu</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hợp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đồng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mới</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tại</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vị</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trí</a:t>
            </a:r>
            <a:r>
              <a:rPr lang="en-US" sz="3200" dirty="0">
                <a:solidFill>
                  <a:srgbClr val="000000"/>
                </a:solidFill>
                <a:latin typeface="Arial"/>
                <a:ea typeface="Arial"/>
                <a:cs typeface="Arial"/>
                <a:sym typeface="Arial"/>
              </a:rPr>
              <a:t> a[k] </a:t>
            </a:r>
            <a:r>
              <a:rPr lang="en-US" sz="3200" dirty="0" err="1">
                <a:solidFill>
                  <a:srgbClr val="000000"/>
                </a:solidFill>
                <a:latin typeface="Arial"/>
                <a:ea typeface="Arial"/>
                <a:cs typeface="Arial"/>
                <a:sym typeface="Arial"/>
              </a:rPr>
              <a:t>và</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tăng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số</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lượng</a:t>
            </a:r>
            <a:r>
              <a:rPr lang="en-US" sz="3200" dirty="0">
                <a:solidFill>
                  <a:srgbClr val="000000"/>
                </a:solidFill>
                <a:latin typeface="Arial"/>
                <a:ea typeface="Arial"/>
                <a:cs typeface="Arial"/>
                <a:sym typeface="Arial"/>
              </a:rPr>
              <a:t> n </a:t>
            </a:r>
            <a:r>
              <a:rPr lang="en-US" sz="3200" dirty="0" err="1">
                <a:solidFill>
                  <a:srgbClr val="000000"/>
                </a:solidFill>
                <a:latin typeface="Arial"/>
                <a:ea typeface="Arial"/>
                <a:cs typeface="Arial"/>
                <a:sym typeface="Arial"/>
              </a:rPr>
              <a:t>lên</a:t>
            </a:r>
            <a:r>
              <a:rPr lang="en-US" sz="3200" dirty="0">
                <a:solidFill>
                  <a:srgbClr val="000000"/>
                </a:solidFill>
                <a:latin typeface="Arial"/>
                <a:ea typeface="Arial"/>
                <a:cs typeface="Arial"/>
                <a:sym typeface="Arial"/>
              </a:rPr>
              <a:t> 1. </a:t>
            </a:r>
          </a:p>
        </p:txBody>
      </p:sp>
      <p:grpSp>
        <p:nvGrpSpPr>
          <p:cNvPr id="9" name="Nhóm 8">
            <a:extLst>
              <a:ext uri="{FF2B5EF4-FFF2-40B4-BE49-F238E27FC236}">
                <a16:creationId xmlns:a16="http://schemas.microsoft.com/office/drawing/2014/main" id="{EF4C6B0F-6293-267F-24DF-B37775E16FEE}"/>
              </a:ext>
            </a:extLst>
          </p:cNvPr>
          <p:cNvGrpSpPr/>
          <p:nvPr/>
        </p:nvGrpSpPr>
        <p:grpSpPr>
          <a:xfrm>
            <a:off x="9034518" y="2975191"/>
            <a:ext cx="8224782" cy="1209442"/>
            <a:chOff x="9034518" y="2975191"/>
            <a:chExt cx="8224782" cy="1209442"/>
          </a:xfrm>
        </p:grpSpPr>
        <p:sp>
          <p:nvSpPr>
            <p:cNvPr id="4" name="Freeform 4"/>
            <p:cNvSpPr/>
            <p:nvPr/>
          </p:nvSpPr>
          <p:spPr>
            <a:xfrm flipH="1">
              <a:off x="9034518" y="2979868"/>
              <a:ext cx="283120" cy="1204765"/>
            </a:xfrm>
            <a:custGeom>
              <a:avLst/>
              <a:gdLst/>
              <a:ahLst/>
              <a:cxnLst/>
              <a:rect l="l" t="t" r="r" b="b"/>
              <a:pathLst>
                <a:path w="283120" h="1204765">
                  <a:moveTo>
                    <a:pt x="283120" y="0"/>
                  </a:moveTo>
                  <a:lnTo>
                    <a:pt x="0" y="0"/>
                  </a:lnTo>
                  <a:lnTo>
                    <a:pt x="0" y="1204766"/>
                  </a:lnTo>
                  <a:lnTo>
                    <a:pt x="283120" y="1204766"/>
                  </a:lnTo>
                  <a:lnTo>
                    <a:pt x="28312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9742513" y="2975191"/>
              <a:ext cx="7516787" cy="1128395"/>
            </a:xfrm>
            <a:prstGeom prst="rect">
              <a:avLst/>
            </a:prstGeom>
          </p:spPr>
          <p:txBody>
            <a:bodyPr lIns="0" tIns="0" rIns="0" bIns="0" rtlCol="0" anchor="t">
              <a:spAutoFit/>
            </a:bodyPr>
            <a:lstStyle/>
            <a:p>
              <a:pPr algn="l">
                <a:lnSpc>
                  <a:spcPts val="4480"/>
                </a:lnSpc>
                <a:spcBef>
                  <a:spcPct val="0"/>
                </a:spcBef>
              </a:pPr>
              <a:r>
                <a:rPr lang="en-US" sz="3200" dirty="0" err="1">
                  <a:solidFill>
                    <a:srgbClr val="000000"/>
                  </a:solidFill>
                  <a:latin typeface="Arial"/>
                  <a:ea typeface="Arial"/>
                  <a:cs typeface="Arial"/>
                  <a:sym typeface="Arial"/>
                </a:rPr>
                <a:t>Dịch</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các</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phần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tử</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từ</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chỉ</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số</a:t>
              </a:r>
              <a:r>
                <a:rPr lang="en-US" sz="3200" dirty="0">
                  <a:solidFill>
                    <a:srgbClr val="000000"/>
                  </a:solidFill>
                  <a:latin typeface="Arial"/>
                  <a:ea typeface="Arial"/>
                  <a:cs typeface="Arial"/>
                  <a:sym typeface="Arial"/>
                </a:rPr>
                <a:t> n </a:t>
              </a:r>
              <a:r>
                <a:rPr lang="en-US" sz="3200" dirty="0" err="1">
                  <a:solidFill>
                    <a:srgbClr val="000000"/>
                  </a:solidFill>
                  <a:latin typeface="Arial"/>
                  <a:ea typeface="Arial"/>
                  <a:cs typeface="Arial"/>
                  <a:sym typeface="Arial"/>
                </a:rPr>
                <a:t>về</a:t>
              </a:r>
              <a:r>
                <a:rPr lang="en-US" sz="3200" dirty="0">
                  <a:solidFill>
                    <a:srgbClr val="000000"/>
                  </a:solidFill>
                  <a:latin typeface="Arial"/>
                  <a:ea typeface="Arial"/>
                  <a:cs typeface="Arial"/>
                  <a:sym typeface="Arial"/>
                </a:rPr>
                <a:t> k+1 sang </a:t>
              </a:r>
              <a:r>
                <a:rPr lang="en-US" sz="3200" dirty="0" err="1">
                  <a:solidFill>
                    <a:srgbClr val="000000"/>
                  </a:solidFill>
                  <a:latin typeface="Arial"/>
                  <a:ea typeface="Arial"/>
                  <a:cs typeface="Arial"/>
                  <a:sym typeface="Arial"/>
                </a:rPr>
                <a:t>phải</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một</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vị</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trí</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để</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tạo</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chỗ</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trống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tại</a:t>
              </a:r>
              <a:r>
                <a:rPr lang="en-US" sz="3200" dirty="0">
                  <a:solidFill>
                    <a:srgbClr val="000000"/>
                  </a:solidFill>
                  <a:latin typeface="Arial"/>
                  <a:ea typeface="Arial"/>
                  <a:cs typeface="Arial"/>
                  <a:sym typeface="Arial"/>
                </a:rPr>
                <a:t> 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98929"/>
            <a:ext cx="11785224" cy="7557960"/>
          </a:xfrm>
          <a:custGeom>
            <a:avLst/>
            <a:gdLst/>
            <a:ahLst/>
            <a:cxnLst/>
            <a:rect l="l" t="t" r="r" b="b"/>
            <a:pathLst>
              <a:path w="11785224" h="7557960">
                <a:moveTo>
                  <a:pt x="0" y="0"/>
                </a:moveTo>
                <a:lnTo>
                  <a:pt x="11785224" y="0"/>
                </a:lnTo>
                <a:lnTo>
                  <a:pt x="11785224" y="7557960"/>
                </a:lnTo>
                <a:lnTo>
                  <a:pt x="0" y="7557960"/>
                </a:lnTo>
                <a:lnTo>
                  <a:pt x="0" y="0"/>
                </a:lnTo>
                <a:close/>
              </a:path>
            </a:pathLst>
          </a:custGeom>
          <a:blipFill>
            <a:blip r:embed="rId2"/>
            <a:stretch>
              <a:fillRect r="-48271"/>
            </a:stretch>
          </a:blipFill>
        </p:spPr>
        <p:txBody>
          <a:bodyPr/>
          <a:lstStyle/>
          <a:p>
            <a:endParaRPr lang="en-US"/>
          </a:p>
        </p:txBody>
      </p:sp>
      <p:grpSp>
        <p:nvGrpSpPr>
          <p:cNvPr id="8" name="Nhóm 7">
            <a:extLst>
              <a:ext uri="{FF2B5EF4-FFF2-40B4-BE49-F238E27FC236}">
                <a16:creationId xmlns:a16="http://schemas.microsoft.com/office/drawing/2014/main" id="{45A27194-0D7E-9F48-55BA-7B4737A137A1}"/>
              </a:ext>
            </a:extLst>
          </p:cNvPr>
          <p:cNvGrpSpPr/>
          <p:nvPr/>
        </p:nvGrpSpPr>
        <p:grpSpPr>
          <a:xfrm>
            <a:off x="11911068" y="3501199"/>
            <a:ext cx="5987168" cy="1218109"/>
            <a:chOff x="11911068" y="3501199"/>
            <a:chExt cx="5987168" cy="1218109"/>
          </a:xfrm>
        </p:grpSpPr>
        <p:sp>
          <p:nvSpPr>
            <p:cNvPr id="3" name="Freeform 3"/>
            <p:cNvSpPr/>
            <p:nvPr/>
          </p:nvSpPr>
          <p:spPr>
            <a:xfrm flipH="1">
              <a:off x="11911068" y="3514543"/>
              <a:ext cx="283120" cy="1204765"/>
            </a:xfrm>
            <a:custGeom>
              <a:avLst/>
              <a:gdLst/>
              <a:ahLst/>
              <a:cxnLst/>
              <a:rect l="l" t="t" r="r" b="b"/>
              <a:pathLst>
                <a:path w="283120" h="1204765">
                  <a:moveTo>
                    <a:pt x="283120" y="0"/>
                  </a:moveTo>
                  <a:lnTo>
                    <a:pt x="0" y="0"/>
                  </a:lnTo>
                  <a:lnTo>
                    <a:pt x="0" y="1204765"/>
                  </a:lnTo>
                  <a:lnTo>
                    <a:pt x="283120" y="1204765"/>
                  </a:lnTo>
                  <a:lnTo>
                    <a:pt x="28312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2194188" y="3501199"/>
              <a:ext cx="5704048" cy="1145728"/>
            </a:xfrm>
            <a:prstGeom prst="rect">
              <a:avLst/>
            </a:prstGeom>
          </p:spPr>
          <p:txBody>
            <a:bodyPr lIns="0" tIns="0" rIns="0" bIns="0" rtlCol="0" anchor="t">
              <a:spAutoFit/>
            </a:bodyPr>
            <a:lstStyle/>
            <a:p>
              <a:pPr algn="ctr">
                <a:lnSpc>
                  <a:spcPts val="4574"/>
                </a:lnSpc>
                <a:spcBef>
                  <a:spcPct val="0"/>
                </a:spcBef>
              </a:pPr>
              <a:r>
                <a:rPr lang="en-US" sz="3267" dirty="0">
                  <a:solidFill>
                    <a:srgbClr val="000000"/>
                  </a:solidFill>
                  <a:latin typeface="Arial"/>
                  <a:ea typeface="Arial"/>
                  <a:cs typeface="Arial"/>
                  <a:sym typeface="Arial"/>
                </a:rPr>
                <a:t> </a:t>
              </a:r>
              <a:r>
                <a:rPr lang="en-US" sz="3267" dirty="0" err="1">
                  <a:solidFill>
                    <a:srgbClr val="000000"/>
                  </a:solidFill>
                  <a:latin typeface="Arial"/>
                  <a:ea typeface="Arial"/>
                  <a:cs typeface="Arial"/>
                  <a:sym typeface="Arial"/>
                </a:rPr>
                <a:t>Kiểm</a:t>
              </a:r>
              <a:r>
                <a:rPr lang="en-US" sz="3267" dirty="0">
                  <a:solidFill>
                    <a:srgbClr val="000000"/>
                  </a:solidFill>
                  <a:latin typeface="Arial"/>
                  <a:ea typeface="Arial"/>
                  <a:cs typeface="Arial"/>
                  <a:sym typeface="Arial"/>
                </a:rPr>
                <a:t> </a:t>
              </a:r>
              <a:r>
                <a:rPr lang="en-US" sz="3267" dirty="0" err="1">
                  <a:solidFill>
                    <a:srgbClr val="000000"/>
                  </a:solidFill>
                  <a:latin typeface="Arial"/>
                  <a:ea typeface="Arial"/>
                  <a:cs typeface="Arial"/>
                  <a:sym typeface="Arial"/>
                </a:rPr>
                <a:t>tra</a:t>
              </a:r>
              <a:r>
                <a:rPr lang="en-US" sz="3267" dirty="0">
                  <a:solidFill>
                    <a:srgbClr val="000000"/>
                  </a:solidFill>
                  <a:latin typeface="Arial"/>
                  <a:ea typeface="Arial"/>
                  <a:cs typeface="Arial"/>
                  <a:sym typeface="Arial"/>
                </a:rPr>
                <a:t> </a:t>
              </a:r>
              <a:r>
                <a:rPr lang="en-US" sz="3267" dirty="0" err="1">
                  <a:solidFill>
                    <a:srgbClr val="000000"/>
                  </a:solidFill>
                  <a:latin typeface="Arial"/>
                  <a:ea typeface="Arial"/>
                  <a:cs typeface="Arial"/>
                  <a:sym typeface="Arial"/>
                </a:rPr>
                <a:t>điều</a:t>
              </a:r>
              <a:r>
                <a:rPr lang="en-US" sz="3267" dirty="0">
                  <a:solidFill>
                    <a:srgbClr val="000000"/>
                  </a:solidFill>
                  <a:latin typeface="Arial"/>
                  <a:ea typeface="Arial"/>
                  <a:cs typeface="Arial"/>
                  <a:sym typeface="Arial"/>
                </a:rPr>
                <a:t> </a:t>
              </a:r>
              <a:r>
                <a:rPr lang="en-US" sz="3267" dirty="0" err="1">
                  <a:solidFill>
                    <a:srgbClr val="000000"/>
                  </a:solidFill>
                  <a:latin typeface="Arial"/>
                  <a:ea typeface="Arial"/>
                  <a:cs typeface="Arial"/>
                  <a:sym typeface="Arial"/>
                </a:rPr>
                <a:t>kiện</a:t>
              </a:r>
              <a:r>
                <a:rPr lang="en-US" sz="3267" dirty="0">
                  <a:solidFill>
                    <a:srgbClr val="000000"/>
                  </a:solidFill>
                  <a:latin typeface="Arial"/>
                  <a:ea typeface="Arial"/>
                  <a:cs typeface="Arial"/>
                  <a:sym typeface="Arial"/>
                </a:rPr>
                <a:t> </a:t>
              </a:r>
              <a:r>
                <a:rPr lang="en-US" sz="3267" dirty="0" err="1">
                  <a:solidFill>
                    <a:srgbClr val="000000"/>
                  </a:solidFill>
                  <a:latin typeface="Arial"/>
                  <a:ea typeface="Arial"/>
                  <a:cs typeface="Arial"/>
                  <a:sym typeface="Arial"/>
                </a:rPr>
                <a:t>vị</a:t>
              </a:r>
              <a:r>
                <a:rPr lang="en-US" sz="3267" dirty="0">
                  <a:solidFill>
                    <a:srgbClr val="000000"/>
                  </a:solidFill>
                  <a:latin typeface="Arial"/>
                  <a:ea typeface="Arial"/>
                  <a:cs typeface="Arial"/>
                  <a:sym typeface="Arial"/>
                </a:rPr>
                <a:t> </a:t>
              </a:r>
              <a:r>
                <a:rPr lang="en-US" sz="3267" dirty="0" err="1">
                  <a:solidFill>
                    <a:srgbClr val="000000"/>
                  </a:solidFill>
                  <a:latin typeface="Arial"/>
                  <a:ea typeface="Arial"/>
                  <a:cs typeface="Arial"/>
                  <a:sym typeface="Arial"/>
                </a:rPr>
                <a:t>trí</a:t>
              </a:r>
              <a:r>
                <a:rPr lang="en-US" sz="3267" dirty="0">
                  <a:solidFill>
                    <a:srgbClr val="000000"/>
                  </a:solidFill>
                  <a:latin typeface="Arial"/>
                  <a:ea typeface="Arial"/>
                  <a:cs typeface="Arial"/>
                  <a:sym typeface="Arial"/>
                </a:rPr>
                <a:t> </a:t>
              </a:r>
              <a:r>
                <a:rPr lang="en-US" sz="3267" dirty="0" err="1">
                  <a:solidFill>
                    <a:srgbClr val="000000"/>
                  </a:solidFill>
                  <a:latin typeface="Arial"/>
                  <a:ea typeface="Arial"/>
                  <a:cs typeface="Arial"/>
                  <a:sym typeface="Arial"/>
                </a:rPr>
                <a:t>xóa</a:t>
              </a:r>
              <a:r>
                <a:rPr lang="en-US" sz="3267" dirty="0">
                  <a:solidFill>
                    <a:srgbClr val="000000"/>
                  </a:solidFill>
                  <a:latin typeface="Arial"/>
                  <a:ea typeface="Arial"/>
                  <a:cs typeface="Arial"/>
                  <a:sym typeface="Arial"/>
                </a:rPr>
                <a:t> k </a:t>
              </a:r>
              <a:r>
                <a:rPr lang="en-US" sz="3267" dirty="0" err="1">
                  <a:solidFill>
                    <a:srgbClr val="000000"/>
                  </a:solidFill>
                  <a:latin typeface="Arial"/>
                  <a:ea typeface="Arial"/>
                  <a:cs typeface="Arial"/>
                  <a:sym typeface="Arial"/>
                </a:rPr>
                <a:t>hợp</a:t>
              </a:r>
              <a:r>
                <a:rPr lang="en-US" sz="3267" dirty="0">
                  <a:solidFill>
                    <a:srgbClr val="000000"/>
                  </a:solidFill>
                  <a:latin typeface="Arial"/>
                  <a:ea typeface="Arial"/>
                  <a:cs typeface="Arial"/>
                  <a:sym typeface="Arial"/>
                </a:rPr>
                <a:t> </a:t>
              </a:r>
              <a:r>
                <a:rPr lang="en-US" sz="3267" dirty="0" err="1">
                  <a:solidFill>
                    <a:srgbClr val="000000"/>
                  </a:solidFill>
                  <a:latin typeface="Arial"/>
                  <a:ea typeface="Arial"/>
                  <a:cs typeface="Arial"/>
                  <a:sym typeface="Arial"/>
                </a:rPr>
                <a:t>lệ</a:t>
              </a:r>
              <a:r>
                <a:rPr lang="en-US" sz="3267" dirty="0">
                  <a:solidFill>
                    <a:srgbClr val="000000"/>
                  </a:solidFill>
                  <a:latin typeface="Arial"/>
                  <a:ea typeface="Arial"/>
                  <a:cs typeface="Arial"/>
                  <a:sym typeface="Arial"/>
                </a:rPr>
                <a:t> (0&lt;= k &lt;=n ). </a:t>
              </a:r>
            </a:p>
          </p:txBody>
        </p:sp>
      </p:grpSp>
      <p:grpSp>
        <p:nvGrpSpPr>
          <p:cNvPr id="9" name="Nhóm 8">
            <a:extLst>
              <a:ext uri="{FF2B5EF4-FFF2-40B4-BE49-F238E27FC236}">
                <a16:creationId xmlns:a16="http://schemas.microsoft.com/office/drawing/2014/main" id="{578DBF67-B68D-32B3-3E8B-66537D598D67}"/>
              </a:ext>
            </a:extLst>
          </p:cNvPr>
          <p:cNvGrpSpPr/>
          <p:nvPr/>
        </p:nvGrpSpPr>
        <p:grpSpPr>
          <a:xfrm>
            <a:off x="10264271" y="5113623"/>
            <a:ext cx="7445144" cy="1690370"/>
            <a:chOff x="10264271" y="5113623"/>
            <a:chExt cx="7445144" cy="1690370"/>
          </a:xfrm>
        </p:grpSpPr>
        <p:sp>
          <p:nvSpPr>
            <p:cNvPr id="5" name="Freeform 5"/>
            <p:cNvSpPr/>
            <p:nvPr/>
          </p:nvSpPr>
          <p:spPr>
            <a:xfrm flipH="1">
              <a:off x="10264271" y="5399287"/>
              <a:ext cx="283120" cy="1204765"/>
            </a:xfrm>
            <a:custGeom>
              <a:avLst/>
              <a:gdLst/>
              <a:ahLst/>
              <a:cxnLst/>
              <a:rect l="l" t="t" r="r" b="b"/>
              <a:pathLst>
                <a:path w="283120" h="1204765">
                  <a:moveTo>
                    <a:pt x="283120" y="0"/>
                  </a:moveTo>
                  <a:lnTo>
                    <a:pt x="0" y="0"/>
                  </a:lnTo>
                  <a:lnTo>
                    <a:pt x="0" y="1204766"/>
                  </a:lnTo>
                  <a:lnTo>
                    <a:pt x="283120" y="1204766"/>
                  </a:lnTo>
                  <a:lnTo>
                    <a:pt x="28312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10843194" y="5113623"/>
              <a:ext cx="6866221" cy="1690370"/>
            </a:xfrm>
            <a:prstGeom prst="rect">
              <a:avLst/>
            </a:prstGeom>
          </p:spPr>
          <p:txBody>
            <a:bodyPr lIns="0" tIns="0" rIns="0" bIns="0" rtlCol="0" anchor="t">
              <a:spAutoFit/>
            </a:bodyPr>
            <a:lstStyle/>
            <a:p>
              <a:pPr algn="l">
                <a:lnSpc>
                  <a:spcPts val="4480"/>
                </a:lnSpc>
                <a:spcBef>
                  <a:spcPct val="0"/>
                </a:spcBef>
              </a:pPr>
              <a:r>
                <a:rPr lang="en-US" sz="3200" dirty="0" err="1">
                  <a:solidFill>
                    <a:srgbClr val="000000"/>
                  </a:solidFill>
                  <a:latin typeface="Arial"/>
                  <a:ea typeface="Arial"/>
                  <a:cs typeface="Arial"/>
                  <a:sym typeface="Arial"/>
                </a:rPr>
                <a:t>Dịch</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chuyển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các</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phần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tử</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từ</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vị</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trí</a:t>
              </a:r>
              <a:r>
                <a:rPr lang="en-US" sz="3200" dirty="0">
                  <a:solidFill>
                    <a:srgbClr val="000000"/>
                  </a:solidFill>
                  <a:latin typeface="Arial"/>
                  <a:ea typeface="Arial"/>
                  <a:cs typeface="Arial"/>
                  <a:sym typeface="Arial"/>
                </a:rPr>
                <a:t> k+ 1 </a:t>
              </a:r>
              <a:r>
                <a:rPr lang="en-US" sz="3200" dirty="0" err="1">
                  <a:solidFill>
                    <a:srgbClr val="000000"/>
                  </a:solidFill>
                  <a:latin typeface="Arial"/>
                  <a:ea typeface="Arial"/>
                  <a:cs typeface="Arial"/>
                  <a:sym typeface="Arial"/>
                </a:rPr>
                <a:t>đến</a:t>
              </a:r>
              <a:r>
                <a:rPr lang="en-US" sz="3200" dirty="0">
                  <a:solidFill>
                    <a:srgbClr val="000000"/>
                  </a:solidFill>
                  <a:latin typeface="Arial"/>
                  <a:ea typeface="Arial"/>
                  <a:cs typeface="Arial"/>
                  <a:sym typeface="Arial"/>
                </a:rPr>
                <a:t> n-1 sang </a:t>
              </a:r>
              <a:r>
                <a:rPr lang="en-US" sz="3200" dirty="0" err="1">
                  <a:solidFill>
                    <a:srgbClr val="000000"/>
                  </a:solidFill>
                  <a:latin typeface="Arial"/>
                  <a:ea typeface="Arial"/>
                  <a:cs typeface="Arial"/>
                  <a:sym typeface="Arial"/>
                </a:rPr>
                <a:t>trái</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một</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vị</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trí</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để</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đè</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lên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phần</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tử</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bị</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xóa</a:t>
              </a:r>
              <a:r>
                <a:rPr lang="en-US" sz="3200" dirty="0">
                  <a:solidFill>
                    <a:srgbClr val="000000"/>
                  </a:solidFill>
                  <a:latin typeface="Arial"/>
                  <a:ea typeface="Arial"/>
                  <a:cs typeface="Arial"/>
                  <a:sym typeface="Arial"/>
                </a:rPr>
                <a:t>. </a:t>
              </a:r>
            </a:p>
          </p:txBody>
        </p:sp>
      </p:grpSp>
      <p:sp>
        <p:nvSpPr>
          <p:cNvPr id="7" name="TextBox 7"/>
          <p:cNvSpPr txBox="1"/>
          <p:nvPr/>
        </p:nvSpPr>
        <p:spPr>
          <a:xfrm>
            <a:off x="7485440" y="7394543"/>
            <a:ext cx="11785224" cy="566420"/>
          </a:xfrm>
          <a:prstGeom prst="rect">
            <a:avLst/>
          </a:prstGeom>
        </p:spPr>
        <p:txBody>
          <a:bodyPr lIns="0" tIns="0" rIns="0" bIns="0" rtlCol="0" anchor="t">
            <a:spAutoFit/>
          </a:bodyPr>
          <a:lstStyle/>
          <a:p>
            <a:pPr algn="ctr">
              <a:lnSpc>
                <a:spcPts val="4480"/>
              </a:lnSpc>
              <a:spcBef>
                <a:spcPct val="0"/>
              </a:spcBef>
            </a:pPr>
            <a:r>
              <a:rPr lang="en-US" sz="3200" dirty="0" err="1">
                <a:solidFill>
                  <a:srgbClr val="000000"/>
                </a:solidFill>
                <a:latin typeface="Arial"/>
                <a:ea typeface="Arial"/>
                <a:cs typeface="Arial"/>
                <a:sym typeface="Arial"/>
              </a:rPr>
              <a:t>Giảm</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tổng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số</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lượng</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hợp</a:t>
            </a:r>
            <a:r>
              <a:rPr lang="en-US" sz="3200" dirty="0">
                <a:solidFill>
                  <a:srgbClr val="000000"/>
                </a:solidFill>
                <a:latin typeface="Arial"/>
                <a:ea typeface="Arial"/>
                <a:cs typeface="Arial"/>
                <a:sym typeface="Arial"/>
              </a:rPr>
              <a:t> </a:t>
            </a:r>
            <a:r>
              <a:rPr lang="en-US" sz="3200" dirty="0" err="1">
                <a:solidFill>
                  <a:srgbClr val="000000"/>
                </a:solidFill>
                <a:latin typeface="Arial"/>
                <a:ea typeface="Arial"/>
                <a:cs typeface="Arial"/>
                <a:sym typeface="Arial"/>
              </a:rPr>
              <a:t>đồng</a:t>
            </a:r>
            <a:r>
              <a:rPr lang="en-US" sz="3200" dirty="0">
                <a:solidFill>
                  <a:srgbClr val="000000"/>
                </a:solidFill>
                <a:latin typeface="Arial"/>
                <a:ea typeface="Arial"/>
                <a:cs typeface="Arial"/>
                <a:sym typeface="Arial"/>
              </a:rPr>
              <a:t> n </a:t>
            </a:r>
            <a:r>
              <a:rPr lang="en-US" sz="3200" dirty="0" err="1">
                <a:solidFill>
                  <a:srgbClr val="000000"/>
                </a:solidFill>
                <a:latin typeface="Arial"/>
                <a:ea typeface="Arial"/>
                <a:cs typeface="Arial"/>
                <a:sym typeface="Arial"/>
              </a:rPr>
              <a:t>đi</a:t>
            </a:r>
            <a:r>
              <a:rPr lang="en-US" sz="3200" dirty="0">
                <a:solidFill>
                  <a:srgbClr val="000000"/>
                </a:solidFill>
                <a:latin typeface="Arial"/>
                <a:ea typeface="Arial"/>
                <a:cs typeface="Arial"/>
                <a:sym typeface="Arial"/>
              </a:rPr>
              <a:t>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1268326" cy="10287000"/>
          </a:xfrm>
          <a:custGeom>
            <a:avLst/>
            <a:gdLst/>
            <a:ahLst/>
            <a:cxnLst/>
            <a:rect l="l" t="t" r="r" b="b"/>
            <a:pathLst>
              <a:path w="11268326" h="10287000">
                <a:moveTo>
                  <a:pt x="0" y="0"/>
                </a:moveTo>
                <a:lnTo>
                  <a:pt x="11268326" y="0"/>
                </a:lnTo>
                <a:lnTo>
                  <a:pt x="11268326" y="10287000"/>
                </a:lnTo>
                <a:lnTo>
                  <a:pt x="0" y="10287000"/>
                </a:lnTo>
                <a:lnTo>
                  <a:pt x="0" y="0"/>
                </a:lnTo>
                <a:close/>
              </a:path>
            </a:pathLst>
          </a:custGeom>
          <a:blipFill>
            <a:blip r:embed="rId2"/>
            <a:stretch>
              <a:fillRect/>
            </a:stretch>
          </a:blipFill>
          <a:ln cap="sq">
            <a:noFill/>
            <a:prstDash val="solid"/>
            <a:miter/>
          </a:ln>
        </p:spPr>
        <p:txBody>
          <a:bodyPr/>
          <a:lstStyle/>
          <a:p>
            <a:endParaRPr lang="en-US"/>
          </a:p>
        </p:txBody>
      </p:sp>
      <p:sp>
        <p:nvSpPr>
          <p:cNvPr id="3" name="TextBox 3"/>
          <p:cNvSpPr txBox="1"/>
          <p:nvPr/>
        </p:nvSpPr>
        <p:spPr>
          <a:xfrm>
            <a:off x="8783795" y="485396"/>
            <a:ext cx="29043" cy="1694296"/>
          </a:xfrm>
          <a:prstGeom prst="rect">
            <a:avLst/>
          </a:prstGeom>
        </p:spPr>
        <p:txBody>
          <a:bodyPr lIns="0" tIns="0" rIns="0" bIns="0" rtlCol="0" anchor="t">
            <a:spAutoFit/>
          </a:bodyPr>
          <a:lstStyle/>
          <a:p>
            <a:pPr algn="ctr">
              <a:lnSpc>
                <a:spcPts val="13660"/>
              </a:lnSpc>
              <a:spcBef>
                <a:spcPct val="0"/>
              </a:spcBef>
            </a:pPr>
            <a:endParaRPr/>
          </a:p>
        </p:txBody>
      </p:sp>
      <p:grpSp>
        <p:nvGrpSpPr>
          <p:cNvPr id="8" name="Nhóm 7">
            <a:extLst>
              <a:ext uri="{FF2B5EF4-FFF2-40B4-BE49-F238E27FC236}">
                <a16:creationId xmlns:a16="http://schemas.microsoft.com/office/drawing/2014/main" id="{FA2E8678-A47C-8EE1-4845-0A56E62E13FD}"/>
              </a:ext>
            </a:extLst>
          </p:cNvPr>
          <p:cNvGrpSpPr/>
          <p:nvPr/>
        </p:nvGrpSpPr>
        <p:grpSpPr>
          <a:xfrm>
            <a:off x="8632247" y="285412"/>
            <a:ext cx="9019672" cy="2364883"/>
            <a:chOff x="8632247" y="285412"/>
            <a:chExt cx="9019672" cy="2364883"/>
          </a:xfrm>
        </p:grpSpPr>
        <p:sp>
          <p:nvSpPr>
            <p:cNvPr id="4" name="TextBox 4"/>
            <p:cNvSpPr txBox="1"/>
            <p:nvPr/>
          </p:nvSpPr>
          <p:spPr>
            <a:xfrm>
              <a:off x="9144000" y="686763"/>
              <a:ext cx="8507919" cy="1963532"/>
            </a:xfrm>
            <a:prstGeom prst="rect">
              <a:avLst/>
            </a:prstGeom>
          </p:spPr>
          <p:txBody>
            <a:bodyPr lIns="0" tIns="0" rIns="0" bIns="0" rtlCol="0" anchor="t">
              <a:spAutoFit/>
            </a:bodyPr>
            <a:lstStyle/>
            <a:p>
              <a:pPr algn="ctr">
                <a:lnSpc>
                  <a:spcPts val="4121"/>
                </a:lnSpc>
                <a:spcBef>
                  <a:spcPct val="0"/>
                </a:spcBef>
              </a:pPr>
              <a:r>
                <a:rPr lang="en-US" sz="2943" dirty="0" err="1">
                  <a:solidFill>
                    <a:srgbClr val="000000"/>
                  </a:solidFill>
                  <a:latin typeface="Arial"/>
                  <a:ea typeface="Arial"/>
                  <a:cs typeface="Arial"/>
                  <a:sym typeface="Arial"/>
                </a:rPr>
                <a:t>timMa</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Duyệt</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danh</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sách</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hợp</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đồng</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trong</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đối</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tượng</a:t>
              </a:r>
              <a:r>
                <a:rPr lang="en-US" sz="2943" dirty="0">
                  <a:solidFill>
                    <a:srgbClr val="000000"/>
                  </a:solidFill>
                  <a:latin typeface="Arial"/>
                  <a:ea typeface="Arial"/>
                  <a:cs typeface="Arial"/>
                  <a:sym typeface="Arial"/>
                </a:rPr>
                <a:t> x, </a:t>
              </a:r>
              <a:r>
                <a:rPr lang="en-US" sz="2943" dirty="0" err="1">
                  <a:solidFill>
                    <a:srgbClr val="000000"/>
                  </a:solidFill>
                  <a:latin typeface="Arial"/>
                  <a:ea typeface="Arial"/>
                  <a:cs typeface="Arial"/>
                  <a:sym typeface="Arial"/>
                </a:rPr>
                <a:t>dùng</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strcmp</a:t>
              </a:r>
              <a:r>
                <a:rPr lang="en-US" sz="2943" dirty="0">
                  <a:solidFill>
                    <a:srgbClr val="000000"/>
                  </a:solidFill>
                  <a:latin typeface="Arial"/>
                  <a:ea typeface="Arial"/>
                  <a:cs typeface="Arial"/>
                  <a:sym typeface="Arial"/>
                </a:rPr>
                <a:t> so </a:t>
              </a:r>
              <a:r>
                <a:rPr lang="en-US" sz="2943" dirty="0" err="1">
                  <a:solidFill>
                    <a:srgbClr val="000000"/>
                  </a:solidFill>
                  <a:latin typeface="Arial"/>
                  <a:ea typeface="Arial"/>
                  <a:cs typeface="Arial"/>
                  <a:sym typeface="Arial"/>
                </a:rPr>
                <a:t>sánh</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mã</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Trả</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về</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chỉ</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số</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i</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nếu</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tìm</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thấy</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ngược</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lại</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trả</a:t>
              </a:r>
              <a:r>
                <a:rPr lang="en-US" sz="2943" dirty="0">
                  <a:solidFill>
                    <a:srgbClr val="000000"/>
                  </a:solidFill>
                  <a:latin typeface="Arial"/>
                  <a:ea typeface="Arial"/>
                  <a:cs typeface="Arial"/>
                  <a:sym typeface="Arial"/>
                </a:rPr>
                <a:t> </a:t>
              </a:r>
              <a:r>
                <a:rPr lang="en-US" sz="2943" dirty="0" err="1">
                  <a:solidFill>
                    <a:srgbClr val="000000"/>
                  </a:solidFill>
                  <a:latin typeface="Arial"/>
                  <a:ea typeface="Arial"/>
                  <a:cs typeface="Arial"/>
                  <a:sym typeface="Arial"/>
                </a:rPr>
                <a:t>về</a:t>
              </a:r>
              <a:r>
                <a:rPr lang="en-US" sz="2943" dirty="0">
                  <a:solidFill>
                    <a:srgbClr val="000000"/>
                  </a:solidFill>
                  <a:latin typeface="Arial"/>
                  <a:ea typeface="Arial"/>
                  <a:cs typeface="Arial"/>
                  <a:sym typeface="Arial"/>
                </a:rPr>
                <a:t> -1</a:t>
              </a:r>
            </a:p>
            <a:p>
              <a:pPr algn="ctr">
                <a:lnSpc>
                  <a:spcPts val="3219"/>
                </a:lnSpc>
                <a:spcBef>
                  <a:spcPct val="0"/>
                </a:spcBef>
              </a:pPr>
              <a:endParaRPr lang="en-US" sz="2943" dirty="0">
                <a:solidFill>
                  <a:srgbClr val="000000"/>
                </a:solidFill>
                <a:latin typeface="Arial"/>
                <a:ea typeface="Arial"/>
                <a:cs typeface="Arial"/>
                <a:sym typeface="Arial"/>
              </a:endParaRPr>
            </a:p>
          </p:txBody>
        </p:sp>
        <p:sp>
          <p:nvSpPr>
            <p:cNvPr id="5" name="Freeform 5"/>
            <p:cNvSpPr/>
            <p:nvPr/>
          </p:nvSpPr>
          <p:spPr>
            <a:xfrm flipH="1">
              <a:off x="8632247" y="285412"/>
              <a:ext cx="511753" cy="2177674"/>
            </a:xfrm>
            <a:custGeom>
              <a:avLst/>
              <a:gdLst/>
              <a:ahLst/>
              <a:cxnLst/>
              <a:rect l="l" t="t" r="r" b="b"/>
              <a:pathLst>
                <a:path w="511753" h="2177674">
                  <a:moveTo>
                    <a:pt x="511753" y="0"/>
                  </a:moveTo>
                  <a:lnTo>
                    <a:pt x="0" y="0"/>
                  </a:lnTo>
                  <a:lnTo>
                    <a:pt x="0" y="2177674"/>
                  </a:lnTo>
                  <a:lnTo>
                    <a:pt x="511753" y="2177674"/>
                  </a:lnTo>
                  <a:lnTo>
                    <a:pt x="51175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9" name="Nhóm 8">
            <a:extLst>
              <a:ext uri="{FF2B5EF4-FFF2-40B4-BE49-F238E27FC236}">
                <a16:creationId xmlns:a16="http://schemas.microsoft.com/office/drawing/2014/main" id="{BB81D31E-F1F4-CBF2-38E7-82D45D376A0C}"/>
              </a:ext>
            </a:extLst>
          </p:cNvPr>
          <p:cNvGrpSpPr/>
          <p:nvPr/>
        </p:nvGrpSpPr>
        <p:grpSpPr>
          <a:xfrm>
            <a:off x="10985206" y="4453550"/>
            <a:ext cx="7094411" cy="2022917"/>
            <a:chOff x="10985206" y="4453550"/>
            <a:chExt cx="7094411" cy="2022917"/>
          </a:xfrm>
        </p:grpSpPr>
        <p:sp>
          <p:nvSpPr>
            <p:cNvPr id="6" name="TextBox 6"/>
            <p:cNvSpPr txBox="1"/>
            <p:nvPr/>
          </p:nvSpPr>
          <p:spPr>
            <a:xfrm>
              <a:off x="11365010" y="4453550"/>
              <a:ext cx="6714607" cy="2022917"/>
            </a:xfrm>
            <a:prstGeom prst="rect">
              <a:avLst/>
            </a:prstGeom>
          </p:spPr>
          <p:txBody>
            <a:bodyPr lIns="0" tIns="0" rIns="0" bIns="0" rtlCol="0" anchor="t">
              <a:spAutoFit/>
            </a:bodyPr>
            <a:lstStyle/>
            <a:p>
              <a:pPr algn="ctr">
                <a:lnSpc>
                  <a:spcPts val="4044"/>
                </a:lnSpc>
                <a:spcBef>
                  <a:spcPct val="0"/>
                </a:spcBef>
              </a:pPr>
              <a:r>
                <a:rPr lang="en-US" sz="2889" dirty="0" err="1">
                  <a:solidFill>
                    <a:srgbClr val="000000"/>
                  </a:solidFill>
                  <a:latin typeface="Arial"/>
                  <a:ea typeface="Arial"/>
                  <a:cs typeface="Arial"/>
                  <a:sym typeface="Arial"/>
                </a:rPr>
                <a:t>dùng</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sscanf</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để</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tách</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trực</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tiếp</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ngày</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tháng</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và</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năm</a:t>
              </a:r>
              <a:r>
                <a:rPr lang="en-US" sz="2889" dirty="0">
                  <a:solidFill>
                    <a:srgbClr val="000000"/>
                  </a:solidFill>
                  <a:latin typeface="Arial"/>
                  <a:ea typeface="Arial"/>
                  <a:cs typeface="Arial"/>
                  <a:sym typeface="Arial"/>
                </a:rPr>
                <a:t>. Sau </a:t>
              </a:r>
              <a:r>
                <a:rPr lang="en-US" sz="2889" dirty="0" err="1">
                  <a:solidFill>
                    <a:srgbClr val="000000"/>
                  </a:solidFill>
                  <a:latin typeface="Arial"/>
                  <a:ea typeface="Arial"/>
                  <a:cs typeface="Arial"/>
                  <a:sym typeface="Arial"/>
                </a:rPr>
                <a:t>đó</a:t>
              </a:r>
              <a:r>
                <a:rPr lang="en-US" sz="2889" dirty="0">
                  <a:solidFill>
                    <a:srgbClr val="000000"/>
                  </a:solidFill>
                  <a:latin typeface="Arial"/>
                  <a:ea typeface="Arial"/>
                  <a:cs typeface="Arial"/>
                  <a:sym typeface="Arial"/>
                </a:rPr>
                <a:t> so </a:t>
              </a:r>
              <a:r>
                <a:rPr lang="en-US" sz="2889" dirty="0" err="1">
                  <a:solidFill>
                    <a:srgbClr val="000000"/>
                  </a:solidFill>
                  <a:latin typeface="Arial"/>
                  <a:ea typeface="Arial"/>
                  <a:cs typeface="Arial"/>
                  <a:sym typeface="Arial"/>
                </a:rPr>
                <a:t>sánh</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theo</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thứ</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tự</a:t>
              </a:r>
              <a:r>
                <a:rPr lang="en-US" sz="2889" dirty="0">
                  <a:solidFill>
                    <a:srgbClr val="000000"/>
                  </a:solidFill>
                  <a:latin typeface="Arial"/>
                  <a:ea typeface="Arial"/>
                  <a:cs typeface="Arial"/>
                  <a:sym typeface="Arial"/>
                </a:rPr>
                <a:t> </a:t>
              </a:r>
              <a:r>
                <a:rPr lang="en-US" sz="2889" dirty="0" err="1">
                  <a:solidFill>
                    <a:srgbClr val="000000"/>
                  </a:solidFill>
                  <a:latin typeface="Arial"/>
                  <a:ea typeface="Arial"/>
                  <a:cs typeface="Arial"/>
                  <a:sym typeface="Arial"/>
                </a:rPr>
                <a:t>năm</a:t>
              </a:r>
              <a:r>
                <a:rPr lang="en-US" sz="2889" dirty="0">
                  <a:solidFill>
                    <a:srgbClr val="000000"/>
                  </a:solidFill>
                  <a:latin typeface="Arial"/>
                  <a:ea typeface="Arial"/>
                  <a:cs typeface="Arial"/>
                  <a:sym typeface="Arial"/>
                </a:rPr>
                <a:t> → </a:t>
              </a:r>
              <a:r>
                <a:rPr lang="en-US" sz="2889" dirty="0" err="1">
                  <a:solidFill>
                    <a:srgbClr val="000000"/>
                  </a:solidFill>
                  <a:latin typeface="Arial"/>
                  <a:ea typeface="Arial"/>
                  <a:cs typeface="Arial"/>
                  <a:sym typeface="Arial"/>
                </a:rPr>
                <a:t>tháng</a:t>
              </a:r>
              <a:r>
                <a:rPr lang="en-US" sz="2889" dirty="0">
                  <a:solidFill>
                    <a:srgbClr val="000000"/>
                  </a:solidFill>
                  <a:latin typeface="Arial"/>
                  <a:ea typeface="Arial"/>
                  <a:cs typeface="Arial"/>
                  <a:sym typeface="Arial"/>
                </a:rPr>
                <a:t> → </a:t>
              </a:r>
              <a:r>
                <a:rPr lang="en-US" sz="2889" dirty="0" err="1">
                  <a:solidFill>
                    <a:srgbClr val="000000"/>
                  </a:solidFill>
                  <a:latin typeface="Arial"/>
                  <a:ea typeface="Arial"/>
                  <a:cs typeface="Arial"/>
                  <a:sym typeface="Arial"/>
                </a:rPr>
                <a:t>ngày</a:t>
              </a:r>
              <a:endParaRPr lang="en-US" sz="2889" dirty="0">
                <a:solidFill>
                  <a:srgbClr val="000000"/>
                </a:solidFill>
                <a:latin typeface="Arial"/>
                <a:ea typeface="Arial"/>
                <a:cs typeface="Arial"/>
                <a:sym typeface="Arial"/>
              </a:endParaRPr>
            </a:p>
            <a:p>
              <a:pPr algn="ctr">
                <a:lnSpc>
                  <a:spcPts val="4044"/>
                </a:lnSpc>
                <a:spcBef>
                  <a:spcPct val="0"/>
                </a:spcBef>
              </a:pPr>
              <a:endParaRPr lang="en-US" sz="2889" dirty="0">
                <a:solidFill>
                  <a:srgbClr val="000000"/>
                </a:solidFill>
                <a:latin typeface="Arial"/>
                <a:ea typeface="Arial"/>
                <a:cs typeface="Arial"/>
                <a:sym typeface="Arial"/>
              </a:endParaRPr>
            </a:p>
          </p:txBody>
        </p:sp>
        <p:sp>
          <p:nvSpPr>
            <p:cNvPr id="7" name="Freeform 7"/>
            <p:cNvSpPr/>
            <p:nvPr/>
          </p:nvSpPr>
          <p:spPr>
            <a:xfrm flipH="1">
              <a:off x="10985206" y="4690248"/>
              <a:ext cx="283120" cy="1204765"/>
            </a:xfrm>
            <a:custGeom>
              <a:avLst/>
              <a:gdLst/>
              <a:ahLst/>
              <a:cxnLst/>
              <a:rect l="l" t="t" r="r" b="b"/>
              <a:pathLst>
                <a:path w="283120" h="1204765">
                  <a:moveTo>
                    <a:pt x="283120" y="0"/>
                  </a:moveTo>
                  <a:lnTo>
                    <a:pt x="0" y="0"/>
                  </a:lnTo>
                  <a:lnTo>
                    <a:pt x="0" y="1204765"/>
                  </a:lnTo>
                  <a:lnTo>
                    <a:pt x="283120" y="1204765"/>
                  </a:lnTo>
                  <a:lnTo>
                    <a:pt x="28312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43349"/>
            <a:ext cx="9695129" cy="6099678"/>
          </a:xfrm>
          <a:custGeom>
            <a:avLst/>
            <a:gdLst/>
            <a:ahLst/>
            <a:cxnLst/>
            <a:rect l="l" t="t" r="r" b="b"/>
            <a:pathLst>
              <a:path w="9695129" h="6099678">
                <a:moveTo>
                  <a:pt x="0" y="0"/>
                </a:moveTo>
                <a:lnTo>
                  <a:pt x="9695129" y="0"/>
                </a:lnTo>
                <a:lnTo>
                  <a:pt x="9695129" y="6099678"/>
                </a:lnTo>
                <a:lnTo>
                  <a:pt x="0" y="6099678"/>
                </a:lnTo>
                <a:lnTo>
                  <a:pt x="0" y="0"/>
                </a:lnTo>
                <a:close/>
              </a:path>
            </a:pathLst>
          </a:custGeom>
          <a:blipFill>
            <a:blip r:embed="rId2"/>
            <a:stretch>
              <a:fillRect b="-235"/>
            </a:stretch>
          </a:blipFill>
        </p:spPr>
        <p:txBody>
          <a:bodyPr/>
          <a:lstStyle/>
          <a:p>
            <a:endParaRPr lang="en-US"/>
          </a:p>
        </p:txBody>
      </p:sp>
      <p:sp>
        <p:nvSpPr>
          <p:cNvPr id="3" name="TextBox 3"/>
          <p:cNvSpPr txBox="1"/>
          <p:nvPr/>
        </p:nvSpPr>
        <p:spPr>
          <a:xfrm>
            <a:off x="7259999" y="1407574"/>
            <a:ext cx="10808018" cy="658495"/>
          </a:xfrm>
          <a:prstGeom prst="rect">
            <a:avLst/>
          </a:prstGeom>
        </p:spPr>
        <p:txBody>
          <a:bodyPr lIns="0" tIns="0" rIns="0" bIns="0" rtlCol="0" anchor="t">
            <a:spAutoFit/>
          </a:bodyPr>
          <a:lstStyle/>
          <a:p>
            <a:pPr algn="ctr">
              <a:lnSpc>
                <a:spcPts val="5179"/>
              </a:lnSpc>
              <a:spcBef>
                <a:spcPct val="0"/>
              </a:spcBef>
            </a:pPr>
            <a:r>
              <a:rPr lang="en-US" sz="3699">
                <a:solidFill>
                  <a:srgbClr val="000000"/>
                </a:solidFill>
                <a:latin typeface="Arial"/>
                <a:ea typeface="Arial"/>
                <a:cs typeface="Arial"/>
                <a:sym typeface="Arial"/>
              </a:rPr>
              <a:t>Hàm main() điều khiển luồng thực thi chương trình: </a:t>
            </a:r>
          </a:p>
        </p:txBody>
      </p:sp>
      <p:sp>
        <p:nvSpPr>
          <p:cNvPr id="4" name="TextBox 4"/>
          <p:cNvSpPr txBox="1"/>
          <p:nvPr/>
        </p:nvSpPr>
        <p:spPr>
          <a:xfrm>
            <a:off x="8003312" y="2706293"/>
            <a:ext cx="9637474" cy="4724057"/>
          </a:xfrm>
          <a:prstGeom prst="rect">
            <a:avLst/>
          </a:prstGeom>
        </p:spPr>
        <p:txBody>
          <a:bodyPr lIns="0" tIns="0" rIns="0" bIns="0" rtlCol="0" anchor="t">
            <a:spAutoFit/>
          </a:bodyPr>
          <a:lstStyle/>
          <a:p>
            <a:pPr algn="ctr">
              <a:lnSpc>
                <a:spcPts val="5382"/>
              </a:lnSpc>
            </a:pP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Tạo</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đối</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tượng</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quản</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lí</a:t>
            </a:r>
            <a:endParaRPr lang="en-US" sz="3844" dirty="0">
              <a:solidFill>
                <a:srgbClr val="000000"/>
              </a:solidFill>
              <a:latin typeface="Arial"/>
              <a:ea typeface="Arial"/>
              <a:cs typeface="Arial"/>
              <a:sym typeface="Arial"/>
            </a:endParaRPr>
          </a:p>
          <a:p>
            <a:pPr algn="ctr">
              <a:lnSpc>
                <a:spcPts val="5382"/>
              </a:lnSpc>
            </a:pPr>
            <a:r>
              <a:rPr lang="en-US" sz="3844" dirty="0">
                <a:solidFill>
                  <a:srgbClr val="000000"/>
                </a:solidFill>
                <a:latin typeface="Arial"/>
                <a:ea typeface="Arial"/>
                <a:cs typeface="Arial"/>
                <a:sym typeface="Arial"/>
              </a:rPr>
              <a:t>        ✓ </a:t>
            </a:r>
            <a:r>
              <a:rPr lang="en-US" sz="3844" dirty="0" err="1">
                <a:solidFill>
                  <a:srgbClr val="000000"/>
                </a:solidFill>
                <a:latin typeface="Arial"/>
                <a:ea typeface="Arial"/>
                <a:cs typeface="Arial"/>
                <a:sym typeface="Arial"/>
              </a:rPr>
              <a:t>Thực</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hiện</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nhập</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danh</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sách</a:t>
            </a:r>
            <a:endParaRPr lang="en-US" sz="3844" dirty="0">
              <a:solidFill>
                <a:srgbClr val="000000"/>
              </a:solidFill>
              <a:latin typeface="Arial"/>
              <a:ea typeface="Arial"/>
              <a:cs typeface="Arial"/>
              <a:sym typeface="Arial"/>
            </a:endParaRPr>
          </a:p>
          <a:p>
            <a:pPr algn="ctr">
              <a:lnSpc>
                <a:spcPts val="5382"/>
              </a:lnSpc>
            </a:pPr>
            <a:r>
              <a:rPr lang="en-US" sz="3844" dirty="0">
                <a:solidFill>
                  <a:srgbClr val="000000"/>
                </a:solidFill>
                <a:latin typeface="Arial"/>
                <a:ea typeface="Arial"/>
                <a:cs typeface="Arial"/>
                <a:sym typeface="Arial"/>
              </a:rPr>
              <a:t>✓ In </a:t>
            </a:r>
            <a:r>
              <a:rPr lang="en-US" sz="3844" dirty="0" err="1">
                <a:solidFill>
                  <a:srgbClr val="000000"/>
                </a:solidFill>
                <a:latin typeface="Arial"/>
                <a:ea typeface="Arial"/>
                <a:cs typeface="Arial"/>
                <a:sym typeface="Arial"/>
              </a:rPr>
              <a:t>danh</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sách</a:t>
            </a:r>
            <a:r>
              <a:rPr lang="en-US" sz="3844" dirty="0">
                <a:solidFill>
                  <a:srgbClr val="000000"/>
                </a:solidFill>
                <a:latin typeface="Arial"/>
                <a:ea typeface="Arial"/>
                <a:cs typeface="Arial"/>
                <a:sym typeface="Arial"/>
              </a:rPr>
              <a:t> ban </a:t>
            </a:r>
            <a:r>
              <a:rPr lang="en-US" sz="3844" dirty="0" err="1">
                <a:solidFill>
                  <a:srgbClr val="000000"/>
                </a:solidFill>
                <a:latin typeface="Arial"/>
                <a:ea typeface="Arial"/>
                <a:cs typeface="Arial"/>
                <a:sym typeface="Arial"/>
              </a:rPr>
              <a:t>đầu</a:t>
            </a:r>
            <a:endParaRPr lang="en-US" sz="3844" dirty="0">
              <a:solidFill>
                <a:srgbClr val="000000"/>
              </a:solidFill>
              <a:latin typeface="Arial"/>
              <a:ea typeface="Arial"/>
              <a:cs typeface="Arial"/>
              <a:sym typeface="Arial"/>
            </a:endParaRPr>
          </a:p>
          <a:p>
            <a:pPr algn="ctr">
              <a:lnSpc>
                <a:spcPts val="5382"/>
              </a:lnSpc>
            </a:pPr>
            <a:r>
              <a:rPr lang="en-US" sz="3844" dirty="0">
                <a:solidFill>
                  <a:srgbClr val="000000"/>
                </a:solidFill>
                <a:latin typeface="Arial"/>
                <a:ea typeface="Arial"/>
                <a:cs typeface="Arial"/>
                <a:sym typeface="Arial"/>
              </a:rPr>
              <a:t>             ✓ </a:t>
            </a:r>
            <a:r>
              <a:rPr lang="en-US" sz="3844" dirty="0" err="1">
                <a:solidFill>
                  <a:srgbClr val="000000"/>
                </a:solidFill>
                <a:latin typeface="Arial"/>
                <a:ea typeface="Arial"/>
                <a:cs typeface="Arial"/>
                <a:sym typeface="Arial"/>
              </a:rPr>
              <a:t>Gọi</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hàm</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chèn</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thêm</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hợp</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đồng</a:t>
            </a:r>
            <a:endParaRPr lang="en-US" sz="3844" dirty="0">
              <a:solidFill>
                <a:srgbClr val="000000"/>
              </a:solidFill>
              <a:latin typeface="Arial"/>
              <a:ea typeface="Arial"/>
              <a:cs typeface="Arial"/>
              <a:sym typeface="Arial"/>
            </a:endParaRPr>
          </a:p>
          <a:p>
            <a:pPr algn="ctr">
              <a:lnSpc>
                <a:spcPts val="5382"/>
              </a:lnSpc>
            </a:pPr>
            <a:r>
              <a:rPr lang="en-US" sz="3844" dirty="0">
                <a:solidFill>
                  <a:srgbClr val="000000"/>
                </a:solidFill>
                <a:latin typeface="Arial"/>
                <a:ea typeface="Arial"/>
                <a:cs typeface="Arial"/>
                <a:sym typeface="Arial"/>
              </a:rPr>
              <a:t>      ✓ Hiển </a:t>
            </a:r>
            <a:r>
              <a:rPr lang="en-US" sz="3844" dirty="0" err="1">
                <a:solidFill>
                  <a:srgbClr val="000000"/>
                </a:solidFill>
                <a:latin typeface="Arial"/>
                <a:ea typeface="Arial"/>
                <a:cs typeface="Arial"/>
                <a:sym typeface="Arial"/>
              </a:rPr>
              <a:t>thị</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kết</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quả</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sau</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chèn</a:t>
            </a:r>
            <a:endParaRPr lang="en-US" sz="3844" dirty="0">
              <a:solidFill>
                <a:srgbClr val="000000"/>
              </a:solidFill>
              <a:latin typeface="Arial"/>
              <a:ea typeface="Arial"/>
              <a:cs typeface="Arial"/>
              <a:sym typeface="Arial"/>
            </a:endParaRPr>
          </a:p>
          <a:p>
            <a:pPr algn="ctr">
              <a:lnSpc>
                <a:spcPts val="5382"/>
              </a:lnSpc>
            </a:pPr>
            <a:r>
              <a:rPr lang="en-US" sz="3844" dirty="0">
                <a:solidFill>
                  <a:srgbClr val="000000"/>
                </a:solidFill>
                <a:latin typeface="Arial"/>
                <a:ea typeface="Arial"/>
                <a:cs typeface="Arial"/>
                <a:sym typeface="Arial"/>
              </a:rPr>
              <a:t>     ✓ </a:t>
            </a:r>
            <a:r>
              <a:rPr lang="en-US" sz="3844" dirty="0" err="1">
                <a:solidFill>
                  <a:srgbClr val="000000"/>
                </a:solidFill>
                <a:latin typeface="Arial"/>
                <a:ea typeface="Arial"/>
                <a:cs typeface="Arial"/>
                <a:sym typeface="Arial"/>
              </a:rPr>
              <a:t>Thực</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hiện</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xoá</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hợp</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đồng</a:t>
            </a:r>
            <a:endParaRPr lang="en-US" sz="3844" dirty="0">
              <a:solidFill>
                <a:srgbClr val="000000"/>
              </a:solidFill>
              <a:latin typeface="Arial"/>
              <a:ea typeface="Arial"/>
              <a:cs typeface="Arial"/>
              <a:sym typeface="Arial"/>
            </a:endParaRPr>
          </a:p>
          <a:p>
            <a:pPr algn="ctr">
              <a:lnSpc>
                <a:spcPts val="5382"/>
              </a:lnSpc>
              <a:spcBef>
                <a:spcPct val="0"/>
              </a:spcBef>
            </a:pPr>
            <a:r>
              <a:rPr lang="en-US" sz="3844" dirty="0">
                <a:solidFill>
                  <a:srgbClr val="000000"/>
                </a:solidFill>
                <a:latin typeface="Arial"/>
                <a:ea typeface="Arial"/>
                <a:cs typeface="Arial"/>
                <a:sym typeface="Arial"/>
              </a:rPr>
              <a:t>      ✓ Hiển </a:t>
            </a:r>
            <a:r>
              <a:rPr lang="en-US" sz="3844" dirty="0" err="1">
                <a:solidFill>
                  <a:srgbClr val="000000"/>
                </a:solidFill>
                <a:latin typeface="Arial"/>
                <a:ea typeface="Arial"/>
                <a:cs typeface="Arial"/>
                <a:sym typeface="Arial"/>
              </a:rPr>
              <a:t>thị</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kết</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quả</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sau</a:t>
            </a:r>
            <a:r>
              <a:rPr lang="en-US" sz="3844" dirty="0">
                <a:solidFill>
                  <a:srgbClr val="000000"/>
                </a:solidFill>
                <a:latin typeface="Arial"/>
                <a:ea typeface="Arial"/>
                <a:cs typeface="Arial"/>
                <a:sym typeface="Arial"/>
              </a:rPr>
              <a:t> </a:t>
            </a:r>
            <a:r>
              <a:rPr lang="en-US" sz="3844" dirty="0" err="1">
                <a:solidFill>
                  <a:srgbClr val="000000"/>
                </a:solidFill>
                <a:latin typeface="Arial"/>
                <a:ea typeface="Arial"/>
                <a:cs typeface="Arial"/>
                <a:sym typeface="Arial"/>
              </a:rPr>
              <a:t>cùng</a:t>
            </a:r>
            <a:endParaRPr lang="en-US" sz="3844"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51583" y="342900"/>
            <a:ext cx="12184833" cy="9187102"/>
          </a:xfrm>
          <a:custGeom>
            <a:avLst/>
            <a:gdLst/>
            <a:ahLst/>
            <a:cxnLst/>
            <a:rect l="l" t="t" r="r" b="b"/>
            <a:pathLst>
              <a:path w="13556433" h="10330102">
                <a:moveTo>
                  <a:pt x="0" y="0"/>
                </a:moveTo>
                <a:lnTo>
                  <a:pt x="13556433" y="0"/>
                </a:lnTo>
                <a:lnTo>
                  <a:pt x="13556433" y="10330102"/>
                </a:lnTo>
                <a:lnTo>
                  <a:pt x="0" y="10330102"/>
                </a:lnTo>
                <a:lnTo>
                  <a:pt x="0" y="0"/>
                </a:lnTo>
                <a:close/>
              </a:path>
            </a:pathLst>
          </a:custGeom>
          <a:blipFill>
            <a:blip r:embed="rId2"/>
            <a:stretch>
              <a:fillRect t="-3616" b="-2808"/>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38400" y="647700"/>
            <a:ext cx="12968543" cy="8774576"/>
          </a:xfrm>
          <a:custGeom>
            <a:avLst/>
            <a:gdLst/>
            <a:ahLst/>
            <a:cxnLst/>
            <a:rect l="l" t="t" r="r" b="b"/>
            <a:pathLst>
              <a:path w="15102143" h="10260476">
                <a:moveTo>
                  <a:pt x="0" y="0"/>
                </a:moveTo>
                <a:lnTo>
                  <a:pt x="15102143" y="0"/>
                </a:lnTo>
                <a:lnTo>
                  <a:pt x="15102143" y="10260476"/>
                </a:lnTo>
                <a:lnTo>
                  <a:pt x="0" y="10260476"/>
                </a:lnTo>
                <a:lnTo>
                  <a:pt x="0" y="0"/>
                </a:lnTo>
                <a:close/>
              </a:path>
            </a:pathLst>
          </a:custGeom>
          <a:blipFill>
            <a:blip r:embed="rId2"/>
            <a:stretch>
              <a:fillRect t="-5044" r="-6320" b="-34648"/>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76600" y="571500"/>
            <a:ext cx="12698986" cy="8868574"/>
          </a:xfrm>
          <a:custGeom>
            <a:avLst/>
            <a:gdLst/>
            <a:ahLst/>
            <a:cxnLst/>
            <a:rect l="l" t="t" r="r" b="b"/>
            <a:pathLst>
              <a:path w="14832586" h="10287000">
                <a:moveTo>
                  <a:pt x="0" y="0"/>
                </a:moveTo>
                <a:lnTo>
                  <a:pt x="14832586" y="0"/>
                </a:lnTo>
                <a:lnTo>
                  <a:pt x="14832586" y="10287000"/>
                </a:lnTo>
                <a:lnTo>
                  <a:pt x="0" y="10287000"/>
                </a:lnTo>
                <a:lnTo>
                  <a:pt x="0" y="0"/>
                </a:lnTo>
                <a:close/>
              </a:path>
            </a:pathLst>
          </a:custGeom>
          <a:blipFill>
            <a:blip r:embed="rId2"/>
            <a:stretch>
              <a:fillRect l="-574" t="-2998" b="-3111"/>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02877"/>
            <a:ext cx="10827720" cy="9048048"/>
          </a:xfrm>
          <a:custGeom>
            <a:avLst/>
            <a:gdLst/>
            <a:ahLst/>
            <a:cxnLst/>
            <a:rect l="l" t="t" r="r" b="b"/>
            <a:pathLst>
              <a:path w="10827720" h="9048048">
                <a:moveTo>
                  <a:pt x="0" y="0"/>
                </a:moveTo>
                <a:lnTo>
                  <a:pt x="10827720" y="0"/>
                </a:lnTo>
                <a:lnTo>
                  <a:pt x="10827720" y="9048048"/>
                </a:lnTo>
                <a:lnTo>
                  <a:pt x="0" y="9048048"/>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7543800" y="368757"/>
            <a:ext cx="9381141" cy="1381084"/>
          </a:xfrm>
          <a:prstGeom prst="rect">
            <a:avLst/>
          </a:prstGeom>
        </p:spPr>
        <p:txBody>
          <a:bodyPr wrap="square" lIns="0" tIns="0" rIns="0" bIns="0" rtlCol="0" anchor="t">
            <a:spAutoFit/>
          </a:bodyPr>
          <a:lstStyle/>
          <a:p>
            <a:pPr algn="ctr">
              <a:lnSpc>
                <a:spcPts val="5319"/>
              </a:lnSpc>
              <a:spcBef>
                <a:spcPct val="0"/>
              </a:spcBef>
            </a:pP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Tại</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sao</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được</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sử</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dụng</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được</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hàm</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tạo</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a:t>
            </a:r>
          </a:p>
        </p:txBody>
      </p:sp>
      <p:sp>
        <p:nvSpPr>
          <p:cNvPr id="4" name="TextBox 4"/>
          <p:cNvSpPr txBox="1"/>
          <p:nvPr/>
        </p:nvSpPr>
        <p:spPr>
          <a:xfrm>
            <a:off x="7315929" y="2012593"/>
            <a:ext cx="10227900" cy="5142883"/>
          </a:xfrm>
          <a:prstGeom prst="rect">
            <a:avLst/>
          </a:prstGeom>
        </p:spPr>
        <p:txBody>
          <a:bodyPr lIns="0" tIns="0" rIns="0" bIns="0" rtlCol="0" anchor="t">
            <a:spAutoFit/>
          </a:bodyPr>
          <a:lstStyle/>
          <a:p>
            <a:pPr marL="457200" indent="-457200" algn="l">
              <a:lnSpc>
                <a:spcPts val="4480"/>
              </a:lnSpc>
              <a:buFont typeface="Arial" panose="020B0604020202020204" pitchFamily="34" charset="0"/>
              <a:buChar char="•"/>
            </a:pPr>
            <a:r>
              <a:rPr lang="en-US" sz="3200" dirty="0" err="1">
                <a:solidFill>
                  <a:srgbClr val="000000"/>
                </a:solidFill>
                <a:latin typeface="Arial" panose="020B0604020202020204" pitchFamily="34" charset="0"/>
                <a:ea typeface="Canva Sans"/>
                <a:cs typeface="Arial" panose="020B0604020202020204" pitchFamily="34" charset="0"/>
                <a:sym typeface="Canva Sans"/>
              </a:rPr>
              <a:t>Hàm</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tạo</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được</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sử</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dụng</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để</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khởi</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tạo</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giá</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trị</a:t>
            </a:r>
            <a:r>
              <a:rPr lang="en-US" sz="3200" dirty="0">
                <a:solidFill>
                  <a:srgbClr val="000000"/>
                </a:solidFill>
                <a:latin typeface="Arial" panose="020B0604020202020204" pitchFamily="34" charset="0"/>
                <a:ea typeface="Canva Sans"/>
                <a:cs typeface="Arial" panose="020B0604020202020204" pitchFamily="34" charset="0"/>
                <a:sym typeface="Canva Sans"/>
              </a:rPr>
              <a:t> ban </a:t>
            </a:r>
            <a:r>
              <a:rPr lang="en-US" sz="3200" dirty="0" err="1">
                <a:solidFill>
                  <a:srgbClr val="000000"/>
                </a:solidFill>
                <a:latin typeface="Arial" panose="020B0604020202020204" pitchFamily="34" charset="0"/>
                <a:ea typeface="Canva Sans"/>
                <a:cs typeface="Arial" panose="020B0604020202020204" pitchFamily="34" charset="0"/>
                <a:sym typeface="Canva Sans"/>
              </a:rPr>
              <a:t>đầu</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cho</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đối</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tượng</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HopDong</a:t>
            </a:r>
            <a:r>
              <a:rPr lang="en-US" sz="3200" dirty="0">
                <a:solidFill>
                  <a:srgbClr val="000000"/>
                </a:solidFill>
                <a:latin typeface="Arial" panose="020B0604020202020204" pitchFamily="34" charset="0"/>
                <a:ea typeface="Canva Sans"/>
                <a:cs typeface="Arial" panose="020B0604020202020204" pitchFamily="34" charset="0"/>
                <a:sym typeface="Canva Sans"/>
              </a:rPr>
              <a:t>.</a:t>
            </a:r>
          </a:p>
          <a:p>
            <a:pPr marL="457200" indent="-457200" algn="l">
              <a:lnSpc>
                <a:spcPts val="4480"/>
              </a:lnSpc>
              <a:buFont typeface="Arial" panose="020B0604020202020204" pitchFamily="34" charset="0"/>
              <a:buChar char="•"/>
            </a:pPr>
            <a:r>
              <a:rPr lang="en-US" sz="3200" dirty="0" err="1">
                <a:solidFill>
                  <a:srgbClr val="000000"/>
                </a:solidFill>
                <a:latin typeface="Arial" panose="020B0604020202020204" pitchFamily="34" charset="0"/>
                <a:ea typeface="Canva Sans"/>
                <a:cs typeface="Arial" panose="020B0604020202020204" pitchFamily="34" charset="0"/>
                <a:sym typeface="Canva Sans"/>
              </a:rPr>
              <a:t>Cụ</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thể</a:t>
            </a:r>
            <a:r>
              <a:rPr lang="en-US" sz="3200" dirty="0">
                <a:solidFill>
                  <a:srgbClr val="000000"/>
                </a:solidFill>
                <a:latin typeface="Arial" panose="020B0604020202020204" pitchFamily="34" charset="0"/>
                <a:ea typeface="Canva Sans"/>
                <a:cs typeface="Arial" panose="020B0604020202020204" pitchFamily="34" charset="0"/>
                <a:sym typeface="Canva Sans"/>
              </a:rPr>
              <a:t>:</a:t>
            </a:r>
          </a:p>
          <a:p>
            <a:pPr algn="l">
              <a:lnSpc>
                <a:spcPts val="4480"/>
              </a:lnSpc>
            </a:pP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luong</a:t>
            </a:r>
            <a:r>
              <a:rPr lang="en-US" sz="3200" dirty="0">
                <a:solidFill>
                  <a:srgbClr val="000000"/>
                </a:solidFill>
                <a:latin typeface="Arial" panose="020B0604020202020204" pitchFamily="34" charset="0"/>
                <a:ea typeface="Canva Sans"/>
                <a:cs typeface="Arial" panose="020B0604020202020204" pitchFamily="34" charset="0"/>
                <a:sym typeface="Canva Sans"/>
              </a:rPr>
              <a:t> =0;</a:t>
            </a:r>
          </a:p>
          <a:p>
            <a:pPr algn="l">
              <a:lnSpc>
                <a:spcPts val="4480"/>
              </a:lnSpc>
            </a:pP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phuCap</a:t>
            </a:r>
            <a:r>
              <a:rPr lang="en-US" sz="3200" dirty="0">
                <a:solidFill>
                  <a:srgbClr val="000000"/>
                </a:solidFill>
                <a:latin typeface="Arial" panose="020B0604020202020204" pitchFamily="34" charset="0"/>
                <a:ea typeface="Canva Sans"/>
                <a:cs typeface="Arial" panose="020B0604020202020204" pitchFamily="34" charset="0"/>
                <a:sym typeface="Canva Sans"/>
              </a:rPr>
              <a:t> =0;</a:t>
            </a:r>
          </a:p>
          <a:p>
            <a:pPr marL="457200" indent="-457200" algn="l">
              <a:lnSpc>
                <a:spcPts val="4480"/>
              </a:lnSpc>
              <a:buFont typeface="Arial" panose="020B0604020202020204" pitchFamily="34" charset="0"/>
              <a:buChar char="•"/>
            </a:pPr>
            <a:r>
              <a:rPr lang="en-US" sz="3200" dirty="0">
                <a:solidFill>
                  <a:srgbClr val="000000"/>
                </a:solidFill>
                <a:latin typeface="Arial" panose="020B0604020202020204" pitchFamily="34" charset="0"/>
                <a:ea typeface="Canva Sans"/>
                <a:cs typeface="Arial" panose="020B0604020202020204" pitchFamily="34" charset="0"/>
                <a:sym typeface="Canva Sans"/>
              </a:rPr>
              <a:t>Khi </a:t>
            </a:r>
            <a:r>
              <a:rPr lang="en-US" sz="3200" dirty="0" err="1">
                <a:solidFill>
                  <a:srgbClr val="000000"/>
                </a:solidFill>
                <a:latin typeface="Arial" panose="020B0604020202020204" pitchFamily="34" charset="0"/>
                <a:ea typeface="Canva Sans"/>
                <a:cs typeface="Arial" panose="020B0604020202020204" pitchFamily="34" charset="0"/>
                <a:sym typeface="Canva Sans"/>
              </a:rPr>
              <a:t>một</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đối</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tượng</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được</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tạo</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ra</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hai</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thuộc</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tính</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này</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sẽ</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được</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khởi</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tạo</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bằng</a:t>
            </a:r>
            <a:r>
              <a:rPr lang="en-US" sz="3200" dirty="0">
                <a:solidFill>
                  <a:srgbClr val="000000"/>
                </a:solidFill>
                <a:latin typeface="Arial" panose="020B0604020202020204" pitchFamily="34" charset="0"/>
                <a:ea typeface="Canva Sans"/>
                <a:cs typeface="Arial" panose="020B0604020202020204" pitchFamily="34" charset="0"/>
                <a:sym typeface="Canva Sans"/>
              </a:rPr>
              <a:t> 0.</a:t>
            </a:r>
          </a:p>
          <a:p>
            <a:pPr marL="457200" indent="-457200" algn="l">
              <a:lnSpc>
                <a:spcPts val="4480"/>
              </a:lnSpc>
              <a:spcBef>
                <a:spcPct val="0"/>
              </a:spcBef>
              <a:buFont typeface="Arial" panose="020B0604020202020204" pitchFamily="34" charset="0"/>
              <a:buChar char="•"/>
            </a:pPr>
            <a:r>
              <a:rPr lang="en-US" sz="3200" dirty="0">
                <a:solidFill>
                  <a:srgbClr val="000000"/>
                </a:solidFill>
                <a:latin typeface="Arial" panose="020B0604020202020204" pitchFamily="34" charset="0"/>
                <a:ea typeface="Canva Sans"/>
                <a:cs typeface="Arial" panose="020B0604020202020204" pitchFamily="34" charset="0"/>
                <a:sym typeface="Canva Sans"/>
              </a:rPr>
              <a:t>Sau </a:t>
            </a:r>
            <a:r>
              <a:rPr lang="en-US" sz="3200" dirty="0" err="1">
                <a:solidFill>
                  <a:srgbClr val="000000"/>
                </a:solidFill>
                <a:latin typeface="Arial" panose="020B0604020202020204" pitchFamily="34" charset="0"/>
                <a:ea typeface="Canva Sans"/>
                <a:cs typeface="Arial" panose="020B0604020202020204" pitchFamily="34" charset="0"/>
                <a:sym typeface="Canva Sans"/>
              </a:rPr>
              <a:t>đó</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hàm</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nhap</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sẽ</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nhập</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giá</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trị</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thực</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tế</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cho</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hợp</a:t>
            </a:r>
            <a:r>
              <a:rPr lang="en-US" sz="3200" dirty="0">
                <a:solidFill>
                  <a:srgbClr val="000000"/>
                </a:solidFill>
                <a:latin typeface="Arial" panose="020B0604020202020204" pitchFamily="34" charset="0"/>
                <a:ea typeface="Canva Sans"/>
                <a:cs typeface="Arial" panose="020B0604020202020204" pitchFamily="34" charset="0"/>
                <a:sym typeface="Canva Sans"/>
              </a:rPr>
              <a:t> </a:t>
            </a:r>
            <a:r>
              <a:rPr lang="en-US" sz="3200" dirty="0" err="1">
                <a:solidFill>
                  <a:srgbClr val="000000"/>
                </a:solidFill>
                <a:latin typeface="Arial" panose="020B0604020202020204" pitchFamily="34" charset="0"/>
                <a:ea typeface="Canva Sans"/>
                <a:cs typeface="Arial" panose="020B0604020202020204" pitchFamily="34" charset="0"/>
                <a:sym typeface="Canva Sans"/>
              </a:rPr>
              <a:t>đồng</a:t>
            </a:r>
            <a:r>
              <a:rPr lang="en-US" sz="3200" dirty="0">
                <a:solidFill>
                  <a:srgbClr val="000000"/>
                </a:solidFill>
                <a:latin typeface="Arial" panose="020B0604020202020204" pitchFamily="34" charset="0"/>
                <a:ea typeface="Canva Sans"/>
                <a:cs typeface="Arial" panose="020B0604020202020204" pitchFamily="34" charset="0"/>
                <a:sym typeface="Canva Sans"/>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0561"/>
            <a:ext cx="10631110" cy="10205878"/>
          </a:xfrm>
          <a:custGeom>
            <a:avLst/>
            <a:gdLst/>
            <a:ahLst/>
            <a:cxnLst/>
            <a:rect l="l" t="t" r="r" b="b"/>
            <a:pathLst>
              <a:path w="10631110" h="10205878">
                <a:moveTo>
                  <a:pt x="0" y="0"/>
                </a:moveTo>
                <a:lnTo>
                  <a:pt x="10631110" y="0"/>
                </a:lnTo>
                <a:lnTo>
                  <a:pt x="10631110" y="10205878"/>
                </a:lnTo>
                <a:lnTo>
                  <a:pt x="0" y="10205878"/>
                </a:lnTo>
                <a:lnTo>
                  <a:pt x="0" y="0"/>
                </a:lnTo>
                <a:close/>
              </a:path>
            </a:pathLst>
          </a:custGeom>
          <a:blipFill>
            <a:blip r:embed="rId2"/>
            <a:stretch>
              <a:fillRect r="-3648"/>
            </a:stretch>
          </a:blipFill>
        </p:spPr>
        <p:txBody>
          <a:bodyPr/>
          <a:lstStyle/>
          <a:p>
            <a:endParaRPr lang="en-US"/>
          </a:p>
        </p:txBody>
      </p:sp>
      <p:sp>
        <p:nvSpPr>
          <p:cNvPr id="3" name="TextBox 3"/>
          <p:cNvSpPr txBox="1"/>
          <p:nvPr/>
        </p:nvSpPr>
        <p:spPr>
          <a:xfrm>
            <a:off x="9144000" y="266293"/>
            <a:ext cx="7823441" cy="1359346"/>
          </a:xfrm>
          <a:prstGeom prst="rect">
            <a:avLst/>
          </a:prstGeom>
        </p:spPr>
        <p:txBody>
          <a:bodyPr wrap="square" lIns="0" tIns="0" rIns="0" bIns="0" rtlCol="0" anchor="t">
            <a:spAutoFit/>
          </a:bodyPr>
          <a:lstStyle/>
          <a:p>
            <a:pPr algn="ctr">
              <a:lnSpc>
                <a:spcPts val="5319"/>
              </a:lnSpc>
              <a:spcBef>
                <a:spcPct val="0"/>
              </a:spcBef>
            </a:pP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Tại</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sao</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lại</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sử</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dụng</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hàm</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r>
              <a:rPr lang="en-US" sz="5400" dirty="0" err="1">
                <a:solidFill>
                  <a:srgbClr val="000000"/>
                </a:solidFill>
                <a:latin typeface="Segoe UI Black" panose="020B0A02040204020203" pitchFamily="34" charset="0"/>
                <a:ea typeface="Segoe UI Black" panose="020B0A02040204020203" pitchFamily="34" charset="0"/>
                <a:cs typeface="Canva Sans"/>
                <a:sym typeface="Canva Sans"/>
              </a:rPr>
              <a:t>bạn</a:t>
            </a:r>
            <a:r>
              <a:rPr lang="en-US" sz="5400" dirty="0">
                <a:solidFill>
                  <a:srgbClr val="000000"/>
                </a:solidFill>
                <a:latin typeface="Segoe UI Black" panose="020B0A02040204020203" pitchFamily="34" charset="0"/>
                <a:ea typeface="Segoe UI Black" panose="020B0A02040204020203" pitchFamily="34" charset="0"/>
                <a:cs typeface="Canva Sans"/>
                <a:sym typeface="Canva Sans"/>
              </a:rPr>
              <a:t>? </a:t>
            </a:r>
          </a:p>
        </p:txBody>
      </p:sp>
      <p:sp>
        <p:nvSpPr>
          <p:cNvPr id="4" name="TextBox 4"/>
          <p:cNvSpPr txBox="1"/>
          <p:nvPr/>
        </p:nvSpPr>
        <p:spPr>
          <a:xfrm>
            <a:off x="9296400" y="1862256"/>
            <a:ext cx="7595236" cy="3912546"/>
          </a:xfrm>
          <a:prstGeom prst="rect">
            <a:avLst/>
          </a:prstGeom>
        </p:spPr>
        <p:txBody>
          <a:bodyPr wrap="square" lIns="0" tIns="0" rIns="0" bIns="0" rtlCol="0" anchor="t">
            <a:spAutoFit/>
          </a:bodyPr>
          <a:lstStyle/>
          <a:p>
            <a:pPr marL="457200" indent="-457200">
              <a:lnSpc>
                <a:spcPts val="4391"/>
              </a:lnSpc>
              <a:buFont typeface="Arial" panose="020B0604020202020204" pitchFamily="34" charset="0"/>
              <a:buChar char="•"/>
            </a:pPr>
            <a:r>
              <a:rPr lang="en-US" sz="3136" dirty="0" err="1">
                <a:solidFill>
                  <a:srgbClr val="000000"/>
                </a:solidFill>
                <a:latin typeface="Arial" panose="020B0604020202020204" pitchFamily="34" charset="0"/>
                <a:ea typeface="Canva Sans"/>
                <a:cs typeface="Arial" panose="020B0604020202020204" pitchFamily="34" charset="0"/>
                <a:sym typeface="Canva Sans"/>
              </a:rPr>
              <a:t>Hàm</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timMa</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cần</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truy</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cập</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x.a</a:t>
            </a:r>
            <a:r>
              <a:rPr lang="en-US" sz="3136" dirty="0">
                <a:solidFill>
                  <a:srgbClr val="000000"/>
                </a:solidFill>
                <a:latin typeface="Arial" panose="020B0604020202020204" pitchFamily="34" charset="0"/>
                <a:ea typeface="Canva Sans"/>
                <a:cs typeface="Arial" panose="020B0604020202020204" pitchFamily="34" charset="0"/>
                <a:sym typeface="Canva Sans"/>
              </a:rPr>
              <a:t>[</a:t>
            </a:r>
            <a:r>
              <a:rPr lang="en-US" sz="3136" dirty="0" err="1">
                <a:solidFill>
                  <a:srgbClr val="000000"/>
                </a:solidFill>
                <a:latin typeface="Arial" panose="020B0604020202020204" pitchFamily="34" charset="0"/>
                <a:ea typeface="Canva Sans"/>
                <a:cs typeface="Arial" panose="020B0604020202020204" pitchFamily="34" charset="0"/>
                <a:sym typeface="Canva Sans"/>
              </a:rPr>
              <a:t>i</a:t>
            </a:r>
            <a:r>
              <a:rPr lang="en-US" sz="3136" dirty="0">
                <a:solidFill>
                  <a:srgbClr val="000000"/>
                </a:solidFill>
                <a:latin typeface="Arial" panose="020B0604020202020204" pitchFamily="34" charset="0"/>
                <a:ea typeface="Canva Sans"/>
                <a:cs typeface="Arial" panose="020B0604020202020204" pitchFamily="34" charset="0"/>
                <a:sym typeface="Canva Sans"/>
              </a:rPr>
              <a:t>].</a:t>
            </a:r>
            <a:r>
              <a:rPr lang="en-US" sz="3136" dirty="0" err="1">
                <a:solidFill>
                  <a:srgbClr val="000000"/>
                </a:solidFill>
                <a:latin typeface="Arial" panose="020B0604020202020204" pitchFamily="34" charset="0"/>
                <a:ea typeface="Canva Sans"/>
                <a:cs typeface="Arial" panose="020B0604020202020204" pitchFamily="34" charset="0"/>
                <a:sym typeface="Canva Sans"/>
              </a:rPr>
              <a:t>MaHD</a:t>
            </a:r>
            <a:endParaRPr lang="en-US" sz="3136" dirty="0">
              <a:solidFill>
                <a:srgbClr val="000000"/>
              </a:solidFill>
              <a:latin typeface="Arial" panose="020B0604020202020204" pitchFamily="34" charset="0"/>
              <a:ea typeface="Canva Sans"/>
              <a:cs typeface="Arial" panose="020B0604020202020204" pitchFamily="34" charset="0"/>
              <a:sym typeface="Canva Sans"/>
            </a:endParaRPr>
          </a:p>
          <a:p>
            <a:pPr marL="457200" indent="-457200">
              <a:lnSpc>
                <a:spcPts val="4391"/>
              </a:lnSpc>
              <a:buFont typeface="Arial" panose="020B0604020202020204" pitchFamily="34" charset="0"/>
              <a:buChar char="•"/>
            </a:pPr>
            <a:r>
              <a:rPr lang="en-US" sz="3136" dirty="0">
                <a:solidFill>
                  <a:srgbClr val="000000"/>
                </a:solidFill>
                <a:latin typeface="Arial" panose="020B0604020202020204" pitchFamily="34" charset="0"/>
                <a:ea typeface="Canva Sans"/>
                <a:cs typeface="Arial" panose="020B0604020202020204" pitchFamily="34" charset="0"/>
                <a:sym typeface="Canva Sans"/>
              </a:rPr>
              <a:t>Trong </a:t>
            </a:r>
            <a:r>
              <a:rPr lang="en-US" sz="3136" dirty="0" err="1">
                <a:solidFill>
                  <a:srgbClr val="000000"/>
                </a:solidFill>
                <a:latin typeface="Arial" panose="020B0604020202020204" pitchFamily="34" charset="0"/>
                <a:ea typeface="Canva Sans"/>
                <a:cs typeface="Arial" panose="020B0604020202020204" pitchFamily="34" charset="0"/>
                <a:sym typeface="Canva Sans"/>
              </a:rPr>
              <a:t>khi</a:t>
            </a:r>
            <a:r>
              <a:rPr lang="en-US" sz="3136" dirty="0">
                <a:solidFill>
                  <a:srgbClr val="000000"/>
                </a:solidFill>
                <a:latin typeface="Arial" panose="020B0604020202020204" pitchFamily="34" charset="0"/>
                <a:ea typeface="Canva Sans"/>
                <a:cs typeface="Arial" panose="020B0604020202020204" pitchFamily="34" charset="0"/>
                <a:sym typeface="Canva Sans"/>
              </a:rPr>
              <a:t> a </a:t>
            </a:r>
            <a:r>
              <a:rPr lang="en-US" sz="3136" dirty="0" err="1">
                <a:solidFill>
                  <a:srgbClr val="000000"/>
                </a:solidFill>
                <a:latin typeface="Arial" panose="020B0604020202020204" pitchFamily="34" charset="0"/>
                <a:ea typeface="Canva Sans"/>
                <a:cs typeface="Arial" panose="020B0604020202020204" pitchFamily="34" charset="0"/>
                <a:sym typeface="Canva Sans"/>
              </a:rPr>
              <a:t>và</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MaHD</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nằm</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trong</a:t>
            </a:r>
            <a:r>
              <a:rPr lang="en-US" sz="3136" dirty="0">
                <a:solidFill>
                  <a:srgbClr val="000000"/>
                </a:solidFill>
                <a:latin typeface="Arial" panose="020B0604020202020204" pitchFamily="34" charset="0"/>
                <a:ea typeface="Canva Sans"/>
                <a:cs typeface="Arial" panose="020B0604020202020204" pitchFamily="34" charset="0"/>
                <a:sym typeface="Canva Sans"/>
              </a:rPr>
              <a:t> private.</a:t>
            </a:r>
          </a:p>
          <a:p>
            <a:pPr marL="457200" indent="-457200">
              <a:lnSpc>
                <a:spcPts val="4391"/>
              </a:lnSpc>
              <a:buFont typeface="Arial" panose="020B0604020202020204" pitchFamily="34" charset="0"/>
              <a:buChar char="•"/>
            </a:pPr>
            <a:r>
              <a:rPr lang="en-US" sz="3136" dirty="0" err="1">
                <a:solidFill>
                  <a:srgbClr val="000000"/>
                </a:solidFill>
                <a:latin typeface="Arial" panose="020B0604020202020204" pitchFamily="34" charset="0"/>
                <a:ea typeface="Canva Sans"/>
                <a:cs typeface="Arial" panose="020B0604020202020204" pitchFamily="34" charset="0"/>
                <a:sym typeface="Canva Sans"/>
              </a:rPr>
              <a:t>Hàm</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bạn</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cho</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phép</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hàm</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timMa</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truy</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cập</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các</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thành</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viên</a:t>
            </a:r>
            <a:r>
              <a:rPr lang="en-US" sz="3136" dirty="0">
                <a:solidFill>
                  <a:srgbClr val="000000"/>
                </a:solidFill>
                <a:latin typeface="Arial" panose="020B0604020202020204" pitchFamily="34" charset="0"/>
                <a:ea typeface="Canva Sans"/>
                <a:cs typeface="Arial" panose="020B0604020202020204" pitchFamily="34" charset="0"/>
                <a:sym typeface="Canva Sans"/>
              </a:rPr>
              <a:t> private </a:t>
            </a:r>
            <a:r>
              <a:rPr lang="en-US" sz="3136" dirty="0" err="1">
                <a:solidFill>
                  <a:srgbClr val="000000"/>
                </a:solidFill>
                <a:latin typeface="Arial" panose="020B0604020202020204" pitchFamily="34" charset="0"/>
                <a:ea typeface="Canva Sans"/>
                <a:cs typeface="Arial" panose="020B0604020202020204" pitchFamily="34" charset="0"/>
                <a:sym typeface="Canva Sans"/>
              </a:rPr>
              <a:t>của</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lớp</a:t>
            </a:r>
            <a:r>
              <a:rPr lang="en-US" sz="3136" dirty="0">
                <a:solidFill>
                  <a:srgbClr val="000000"/>
                </a:solidFill>
                <a:latin typeface="Arial" panose="020B0604020202020204" pitchFamily="34" charset="0"/>
                <a:ea typeface="Canva Sans"/>
                <a:cs typeface="Arial" panose="020B0604020202020204" pitchFamily="34" charset="0"/>
                <a:sym typeface="Canva Sans"/>
              </a:rPr>
              <a:t> </a:t>
            </a:r>
            <a:r>
              <a:rPr lang="en-US" sz="3136" dirty="0" err="1">
                <a:solidFill>
                  <a:srgbClr val="000000"/>
                </a:solidFill>
                <a:latin typeface="Arial" panose="020B0604020202020204" pitchFamily="34" charset="0"/>
                <a:ea typeface="Canva Sans"/>
                <a:cs typeface="Arial" panose="020B0604020202020204" pitchFamily="34" charset="0"/>
                <a:sym typeface="Canva Sans"/>
              </a:rPr>
              <a:t>QuanLyHopDong</a:t>
            </a:r>
            <a:r>
              <a:rPr lang="en-US" sz="3136" dirty="0">
                <a:solidFill>
                  <a:srgbClr val="000000"/>
                </a:solidFill>
                <a:latin typeface="Arial" panose="020B0604020202020204" pitchFamily="34" charset="0"/>
                <a:ea typeface="Canva Sans"/>
                <a:cs typeface="Arial" panose="020B0604020202020204" pitchFamily="34" charset="0"/>
                <a:sym typeface="Canva Sans"/>
              </a:rPr>
              <a:t>.</a:t>
            </a:r>
          </a:p>
          <a:p>
            <a:pPr algn="l">
              <a:lnSpc>
                <a:spcPts val="4391"/>
              </a:lnSpc>
            </a:pPr>
            <a:endParaRPr lang="en-US" sz="3136" dirty="0">
              <a:solidFill>
                <a:srgbClr val="000000"/>
              </a:solidFill>
              <a:latin typeface="Arial" panose="020B0604020202020204" pitchFamily="34" charset="0"/>
              <a:ea typeface="Canva Sans"/>
              <a:cs typeface="Arial" panose="020B0604020202020204" pitchFamily="34" charset="0"/>
              <a:sym typeface="Canva Sans"/>
            </a:endParaRPr>
          </a:p>
          <a:p>
            <a:pPr algn="l">
              <a:lnSpc>
                <a:spcPts val="4391"/>
              </a:lnSpc>
              <a:spcBef>
                <a:spcPct val="0"/>
              </a:spcBef>
            </a:pPr>
            <a:endParaRPr lang="en-US" sz="3136" dirty="0">
              <a:solidFill>
                <a:srgbClr val="000000"/>
              </a:solidFill>
              <a:latin typeface="Canva Sans"/>
              <a:ea typeface="Canva Sans"/>
              <a:cs typeface="Canva Sans"/>
              <a:sym typeface="Canva Sans"/>
            </a:endParaRPr>
          </a:p>
        </p:txBody>
      </p:sp>
      <p:sp>
        <p:nvSpPr>
          <p:cNvPr id="6" name="Hộp Văn bản 5">
            <a:extLst>
              <a:ext uri="{FF2B5EF4-FFF2-40B4-BE49-F238E27FC236}">
                <a16:creationId xmlns:a16="http://schemas.microsoft.com/office/drawing/2014/main" id="{B4F160A8-4BAF-2EDD-9723-FBA2EA5669CA}"/>
              </a:ext>
            </a:extLst>
          </p:cNvPr>
          <p:cNvSpPr txBox="1"/>
          <p:nvPr/>
        </p:nvSpPr>
        <p:spPr>
          <a:xfrm>
            <a:off x="8382000" y="6167027"/>
            <a:ext cx="9144000" cy="3539430"/>
          </a:xfrm>
          <a:prstGeom prst="rect">
            <a:avLst/>
          </a:prstGeom>
          <a:noFill/>
        </p:spPr>
        <p:txBody>
          <a:bodyPr wrap="square">
            <a:spAutoFit/>
          </a:bodyPr>
          <a:lstStyle/>
          <a:p>
            <a:pPr marL="457200" indent="-457200">
              <a:buFont typeface="Arial" panose="020B0604020202020204" pitchFamily="34" charset="0"/>
              <a:buChar char="•"/>
            </a:pPr>
            <a:r>
              <a:rPr lang="en-US" sz="3200" dirty="0" err="1">
                <a:latin typeface="Arial" panose="020B0604020202020204" pitchFamily="34" charset="0"/>
                <a:cs typeface="Arial" panose="020B0604020202020204" pitchFamily="34" charset="0"/>
              </a:rPr>
              <a:t>Hàm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soSanhNgay</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cần</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truy</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cập</a:t>
            </a:r>
            <a:r>
              <a:rPr lang="en-US" sz="3200" dirty="0">
                <a:latin typeface="Arial" panose="020B0604020202020204" pitchFamily="34" charset="0"/>
                <a:cs typeface="Arial" panose="020B0604020202020204" pitchFamily="34" charset="0"/>
              </a:rPr>
              <a:t>:</a:t>
            </a:r>
          </a:p>
          <a:p>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x.a</a:t>
            </a:r>
            <a:r>
              <a:rPr lang="en-US" sz="3200" dirty="0">
                <a:latin typeface="Arial" panose="020B0604020202020204" pitchFamily="34" charset="0"/>
                <a:cs typeface="Arial" panose="020B0604020202020204" pitchFamily="34" charset="0"/>
              </a:rPr>
              <a:t>[</a:t>
            </a:r>
            <a:r>
              <a:rPr lang="en-US" sz="3200" dirty="0" err="1">
                <a:latin typeface="Arial" panose="020B0604020202020204" pitchFamily="34" charset="0"/>
                <a:cs typeface="Arial" panose="020B0604020202020204" pitchFamily="34" charset="0"/>
              </a:rPr>
              <a:t>i</a:t>
            </a:r>
            <a:r>
              <a:rPr lang="en-US" sz="3200" dirty="0">
                <a:latin typeface="Arial" panose="020B0604020202020204" pitchFamily="34" charset="0"/>
                <a:cs typeface="Arial" panose="020B0604020202020204" pitchFamily="34" charset="0"/>
              </a:rPr>
              <a:t>].</a:t>
            </a:r>
            <a:r>
              <a:rPr lang="en-US" sz="3200" dirty="0" err="1">
                <a:latin typeface="Arial" panose="020B0604020202020204" pitchFamily="34" charset="0"/>
                <a:cs typeface="Arial" panose="020B0604020202020204" pitchFamily="34" charset="0"/>
              </a:rPr>
              <a:t>NgayHetHan</a:t>
            </a:r>
            <a:endParaRPr lang="en-US" sz="3200" dirty="0">
              <a:latin typeface="Arial" panose="020B0604020202020204" pitchFamily="34" charset="0"/>
              <a:cs typeface="Arial" panose="020B0604020202020204" pitchFamily="34" charset="0"/>
            </a:endParaRPr>
          </a:p>
          <a:p>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x.a</a:t>
            </a:r>
            <a:r>
              <a:rPr lang="en-US" sz="3200" dirty="0">
                <a:latin typeface="Arial" panose="020B0604020202020204" pitchFamily="34" charset="0"/>
                <a:cs typeface="Arial" panose="020B0604020202020204" pitchFamily="34" charset="0"/>
              </a:rPr>
              <a:t>[</a:t>
            </a:r>
            <a:r>
              <a:rPr lang="en-US" sz="3200" dirty="0" err="1">
                <a:latin typeface="Arial" panose="020B0604020202020204" pitchFamily="34" charset="0"/>
                <a:cs typeface="Arial" panose="020B0604020202020204" pitchFamily="34" charset="0"/>
              </a:rPr>
              <a:t>i</a:t>
            </a:r>
            <a:r>
              <a:rPr lang="en-US" sz="3200" dirty="0">
                <a:latin typeface="Arial" panose="020B0604020202020204" pitchFamily="34" charset="0"/>
                <a:cs typeface="Arial" panose="020B0604020202020204" pitchFamily="34" charset="0"/>
              </a:rPr>
              <a:t>].</a:t>
            </a:r>
            <a:r>
              <a:rPr lang="en-US" sz="3200" dirty="0" err="1">
                <a:latin typeface="Arial" panose="020B0604020202020204" pitchFamily="34" charset="0"/>
                <a:cs typeface="Arial" panose="020B0604020202020204" pitchFamily="34" charset="0"/>
              </a:rPr>
              <a:t>NgayHetHan</a:t>
            </a: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200" dirty="0">
                <a:latin typeface="Arial" panose="020B0604020202020204" pitchFamily="34" charset="0"/>
                <a:cs typeface="Arial" panose="020B0604020202020204" pitchFamily="34" charset="0"/>
              </a:rPr>
              <a:t>Trong </a:t>
            </a:r>
            <a:r>
              <a:rPr lang="en-US" sz="3200" dirty="0" err="1">
                <a:latin typeface="Arial" panose="020B0604020202020204" pitchFamily="34" charset="0"/>
                <a:cs typeface="Arial" panose="020B0604020202020204" pitchFamily="34" charset="0"/>
              </a:rPr>
              <a:t>khi</a:t>
            </a:r>
            <a:r>
              <a:rPr lang="en-US" sz="3200" dirty="0">
                <a:latin typeface="Arial" panose="020B0604020202020204" pitchFamily="34" charset="0"/>
                <a:cs typeface="Arial" panose="020B0604020202020204" pitchFamily="34" charset="0"/>
              </a:rPr>
              <a:t> a </a:t>
            </a:r>
            <a:r>
              <a:rPr lang="en-US" sz="3200" dirty="0" err="1">
                <a:latin typeface="Arial" panose="020B0604020202020204" pitchFamily="34" charset="0"/>
                <a:cs typeface="Arial" panose="020B0604020202020204" pitchFamily="34" charset="0"/>
              </a:rPr>
              <a:t>và</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NgayHetHan</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nằm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trong</a:t>
            </a:r>
            <a:r>
              <a:rPr lang="en-US" sz="3200" dirty="0">
                <a:latin typeface="Arial" panose="020B0604020202020204" pitchFamily="34" charset="0"/>
                <a:cs typeface="Arial" panose="020B0604020202020204" pitchFamily="34" charset="0"/>
              </a:rPr>
              <a:t> private.</a:t>
            </a:r>
          </a:p>
          <a:p>
            <a:pPr marL="457200" indent="-457200">
              <a:buFont typeface="Arial" panose="020B0604020202020204" pitchFamily="34" charset="0"/>
              <a:buChar char="•"/>
            </a:pPr>
            <a:r>
              <a:rPr lang="en-US" sz="3200" dirty="0" err="1">
                <a:latin typeface="Arial" panose="020B0604020202020204" pitchFamily="34" charset="0"/>
                <a:cs typeface="Arial" panose="020B0604020202020204" pitchFamily="34" charset="0"/>
              </a:rPr>
              <a:t>Hàm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bạn</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cho</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phép</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hàm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soSanhNgay</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truy</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cập</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các</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thành</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viên</a:t>
            </a:r>
            <a:r>
              <a:rPr lang="en-US" sz="3200" dirty="0">
                <a:latin typeface="Arial" panose="020B0604020202020204" pitchFamily="34" charset="0"/>
                <a:cs typeface="Arial" panose="020B0604020202020204" pitchFamily="34" charset="0"/>
              </a:rPr>
              <a:t> private </a:t>
            </a:r>
            <a:r>
              <a:rPr lang="en-US" sz="3200" dirty="0" err="1">
                <a:latin typeface="Arial" panose="020B0604020202020204" pitchFamily="34" charset="0"/>
                <a:cs typeface="Arial" panose="020B0604020202020204" pitchFamily="34" charset="0"/>
              </a:rPr>
              <a:t>của</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lớp</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QuanLyHopDong</a:t>
            </a:r>
            <a:r>
              <a:rPr lang="en-US" sz="3200" dirty="0">
                <a:latin typeface="Arial" panose="020B0604020202020204" pitchFamily="34" charset="0"/>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0" y="2324100"/>
            <a:ext cx="7768769" cy="5052060"/>
          </a:xfrm>
          <a:prstGeom prst="rect">
            <a:avLst/>
          </a:prstGeom>
        </p:spPr>
        <p:txBody>
          <a:bodyPr wrap="square" lIns="0" tIns="0" rIns="0" bIns="0" rtlCol="0" anchor="t">
            <a:spAutoFit/>
          </a:bodyPr>
          <a:lstStyle/>
          <a:p>
            <a:pPr algn="ctr">
              <a:lnSpc>
                <a:spcPts val="13439"/>
              </a:lnSpc>
            </a:pPr>
            <a:r>
              <a:rPr lang="en-US" sz="9600" dirty="0">
                <a:solidFill>
                  <a:srgbClr val="000000"/>
                </a:solidFill>
                <a:latin typeface="Paytone One"/>
                <a:ea typeface="Paytone One"/>
                <a:cs typeface="Paytone One"/>
                <a:sym typeface="Paytone One"/>
              </a:rPr>
              <a:t>THANK YOU</a:t>
            </a:r>
          </a:p>
          <a:p>
            <a:pPr algn="ctr">
              <a:lnSpc>
                <a:spcPts val="13439"/>
              </a:lnSpc>
            </a:pPr>
            <a:r>
              <a:rPr lang="en-US" sz="9600" dirty="0">
                <a:solidFill>
                  <a:srgbClr val="000000"/>
                </a:solidFill>
                <a:latin typeface="Paytone One"/>
                <a:ea typeface="Paytone One"/>
                <a:cs typeface="Paytone One"/>
                <a:sym typeface="Paytone One"/>
              </a:rPr>
              <a:t>for</a:t>
            </a:r>
          </a:p>
          <a:p>
            <a:pPr algn="ctr">
              <a:lnSpc>
                <a:spcPts val="13439"/>
              </a:lnSpc>
              <a:spcBef>
                <a:spcPct val="0"/>
              </a:spcBef>
            </a:pPr>
            <a:r>
              <a:rPr lang="en-US" sz="9600" dirty="0">
                <a:solidFill>
                  <a:srgbClr val="000000"/>
                </a:solidFill>
                <a:latin typeface="Paytone One"/>
                <a:ea typeface="Paytone One"/>
                <a:cs typeface="Paytone One"/>
                <a:sym typeface="Paytone One"/>
              </a:rPr>
              <a:t>LISTENING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711</Words>
  <Application>Microsoft Office PowerPoint</Application>
  <PresentationFormat>Tùy chỉnh</PresentationFormat>
  <Paragraphs>61</Paragraphs>
  <Slides>16</Slides>
  <Notes>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16</vt:i4>
      </vt:variant>
    </vt:vector>
  </HeadingPairs>
  <TitlesOfParts>
    <vt:vector size="22" baseType="lpstr">
      <vt:lpstr>Canva Sans</vt:lpstr>
      <vt:lpstr>Segoe UI Black</vt:lpstr>
      <vt:lpstr>Arial</vt:lpstr>
      <vt:lpstr>Paytone One</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Chủ đề 15 Quản lý danh sách Hợp đồng lao động</dc:title>
  <cp:lastModifiedBy>vuthu2020.hy@gmail.com</cp:lastModifiedBy>
  <cp:revision>2</cp:revision>
  <dcterms:created xsi:type="dcterms:W3CDTF">2006-08-16T00:00:00Z</dcterms:created>
  <dcterms:modified xsi:type="dcterms:W3CDTF">2026-10-09T02:14:59Z</dcterms:modified>
  <dc:identifier>DAHXUPQjt1U</dc:identifier>
</cp:coreProperties>
</file>